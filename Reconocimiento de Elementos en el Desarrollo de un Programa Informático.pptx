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HK Grotesk Bold" charset="1" panose="00000800000000000000"/>
      <p:regular r:id="rId13"/>
    </p:embeddedFont>
    <p:embeddedFont>
      <p:font typeface="HK Grotesk" charset="1" panose="00000500000000000000"/>
      <p:regular r:id="rId14"/>
    </p:embeddedFont>
    <p:embeddedFont>
      <p:font typeface="Open Sans Bold" charset="1" panose="020B0806030504020204"/>
      <p:regular r:id="rId15"/>
    </p:embeddedFont>
    <p:embeddedFont>
      <p:font typeface="Open Sans" charset="1" panose="020B0606030504020204"/>
      <p:regular r:id="rId16"/>
    </p:embeddedFont>
    <p:embeddedFont>
      <p:font typeface="Open Sans Bold Italics" charset="1" panose="020B0806030504020204"/>
      <p:regular r:id="rId17"/>
    </p:embeddedFont>
    <p:embeddedFont>
      <p:font typeface="Open Sans Italics" charset="1" panose="020B0606030504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22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621922">
            <a:off x="-4755808" y="-1546492"/>
            <a:ext cx="11621174" cy="5420098"/>
            <a:chOff x="0" y="0"/>
            <a:chExt cx="3060721" cy="14275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60721" cy="1427516"/>
            </a:xfrm>
            <a:custGeom>
              <a:avLst/>
              <a:gdLst/>
              <a:ahLst/>
              <a:cxnLst/>
              <a:rect r="r" b="b" t="t" l="l"/>
              <a:pathLst>
                <a:path h="1427516" w="3060721">
                  <a:moveTo>
                    <a:pt x="0" y="0"/>
                  </a:moveTo>
                  <a:lnTo>
                    <a:pt x="3060721" y="0"/>
                  </a:lnTo>
                  <a:lnTo>
                    <a:pt x="3060721" y="1427516"/>
                  </a:lnTo>
                  <a:lnTo>
                    <a:pt x="0" y="1427516"/>
                  </a:lnTo>
                  <a:close/>
                </a:path>
              </a:pathLst>
            </a:custGeom>
            <a:solidFill>
              <a:srgbClr val="5CB6F9"/>
            </a:solidFill>
            <a:ln w="85725" cap="sq">
              <a:solidFill>
                <a:srgbClr val="455D6A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060721" cy="14656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144000" y="-665329"/>
            <a:ext cx="6927995" cy="5305789"/>
          </a:xfrm>
          <a:custGeom>
            <a:avLst/>
            <a:gdLst/>
            <a:ahLst/>
            <a:cxnLst/>
            <a:rect r="r" b="b" t="t" l="l"/>
            <a:pathLst>
              <a:path h="5305789" w="6927995">
                <a:moveTo>
                  <a:pt x="0" y="0"/>
                </a:moveTo>
                <a:lnTo>
                  <a:pt x="6927995" y="0"/>
                </a:lnTo>
                <a:lnTo>
                  <a:pt x="6927995" y="5305790"/>
                </a:lnTo>
                <a:lnTo>
                  <a:pt x="0" y="5305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287" r="0" b="-1528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23018" y="3763021"/>
            <a:ext cx="12361398" cy="2997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20"/>
              </a:lnSpc>
            </a:pPr>
            <a:r>
              <a:rPr lang="en-US" b="true" sz="5728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Reconocimiento de Elementos en el Desarrollo de un Programa Informático</a:t>
            </a:r>
          </a:p>
        </p:txBody>
      </p:sp>
      <p:grpSp>
        <p:nvGrpSpPr>
          <p:cNvPr name="Group 7" id="7"/>
          <p:cNvGrpSpPr/>
          <p:nvPr/>
        </p:nvGrpSpPr>
        <p:grpSpPr>
          <a:xfrm rot="-2621922">
            <a:off x="9851975" y="4940133"/>
            <a:ext cx="13309922" cy="5928233"/>
            <a:chOff x="0" y="0"/>
            <a:chExt cx="3505494" cy="15613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05494" cy="1561345"/>
            </a:xfrm>
            <a:custGeom>
              <a:avLst/>
              <a:gdLst/>
              <a:ahLst/>
              <a:cxnLst/>
              <a:rect r="r" b="b" t="t" l="l"/>
              <a:pathLst>
                <a:path h="1561345" w="3505494">
                  <a:moveTo>
                    <a:pt x="0" y="0"/>
                  </a:moveTo>
                  <a:lnTo>
                    <a:pt x="3505494" y="0"/>
                  </a:lnTo>
                  <a:lnTo>
                    <a:pt x="3505494" y="1561345"/>
                  </a:lnTo>
                  <a:lnTo>
                    <a:pt x="0" y="1561345"/>
                  </a:lnTo>
                  <a:close/>
                </a:path>
              </a:pathLst>
            </a:custGeom>
            <a:solidFill>
              <a:srgbClr val="233DFF"/>
            </a:solidFill>
            <a:ln w="85725" cap="sq">
              <a:solidFill>
                <a:srgbClr val="455D6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505494" cy="1599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723018" y="5319042"/>
            <a:ext cx="3636343" cy="3636343"/>
          </a:xfrm>
          <a:custGeom>
            <a:avLst/>
            <a:gdLst/>
            <a:ahLst/>
            <a:cxnLst/>
            <a:rect r="r" b="b" t="t" l="l"/>
            <a:pathLst>
              <a:path h="3636343" w="3636343">
                <a:moveTo>
                  <a:pt x="0" y="0"/>
                </a:moveTo>
                <a:lnTo>
                  <a:pt x="3636343" y="0"/>
                </a:lnTo>
                <a:lnTo>
                  <a:pt x="3636343" y="3636343"/>
                </a:lnTo>
                <a:lnTo>
                  <a:pt x="0" y="36363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1047664" y="8696437"/>
            <a:ext cx="12426524" cy="2181794"/>
            <a:chOff x="0" y="0"/>
            <a:chExt cx="3272829" cy="5746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72829" cy="574629"/>
            </a:xfrm>
            <a:custGeom>
              <a:avLst/>
              <a:gdLst/>
              <a:ahLst/>
              <a:cxnLst/>
              <a:rect r="r" b="b" t="t" l="l"/>
              <a:pathLst>
                <a:path h="574629" w="3272829">
                  <a:moveTo>
                    <a:pt x="0" y="0"/>
                  </a:moveTo>
                  <a:lnTo>
                    <a:pt x="3272829" y="0"/>
                  </a:lnTo>
                  <a:lnTo>
                    <a:pt x="3272829" y="574629"/>
                  </a:lnTo>
                  <a:lnTo>
                    <a:pt x="0" y="574629"/>
                  </a:lnTo>
                  <a:close/>
                </a:path>
              </a:pathLst>
            </a:custGeom>
            <a:solidFill>
              <a:srgbClr val="CAE8FF"/>
            </a:solidFill>
            <a:ln w="85725" cap="sq">
              <a:solidFill>
                <a:srgbClr val="FF575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272829" cy="612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0" y="9172575"/>
            <a:ext cx="11202797" cy="745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47"/>
              </a:lnSpc>
            </a:pPr>
            <a:r>
              <a:rPr lang="en-US" b="true" sz="4390" spc="35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ALBERTO FLORIDO RAMOS - 1ºA DAM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222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117331" cy="10287000"/>
            <a:chOff x="0" y="0"/>
            <a:chExt cx="10844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844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1084400">
                  <a:moveTo>
                    <a:pt x="0" y="0"/>
                  </a:moveTo>
                  <a:lnTo>
                    <a:pt x="1084400" y="0"/>
                  </a:lnTo>
                  <a:lnTo>
                    <a:pt x="10844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AE8FF"/>
            </a:solidFill>
            <a:ln w="114300" cap="sq">
              <a:solidFill>
                <a:srgbClr val="1800AD"/>
              </a:solidFill>
              <a:prstDash val="lgDash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8440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56144" y="4405375"/>
            <a:ext cx="3205044" cy="1311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80"/>
              </a:lnSpc>
            </a:pPr>
            <a:r>
              <a:rPr lang="en-US" b="true" sz="7628">
                <a:solidFill>
                  <a:srgbClr val="1800AD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ÍNDICE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27455" y="933450"/>
            <a:ext cx="12831845" cy="1703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88"/>
              </a:lnSpc>
            </a:pPr>
            <a:r>
              <a:rPr lang="en-US" sz="4920" spc="393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1. EXPLICACIÓN DE LOS CONCEPTOS BÁSICOS.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39238" y="4264978"/>
            <a:ext cx="9525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427455" y="3062129"/>
            <a:ext cx="12831845" cy="1703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88"/>
              </a:lnSpc>
            </a:pPr>
            <a:r>
              <a:rPr lang="en-US" sz="4920" spc="393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2. CLASIFICACIÓN DE LENGUAJES DE PROGRAMACIÓN.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27455" y="5190808"/>
            <a:ext cx="12831845" cy="1633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38"/>
              </a:lnSpc>
            </a:pPr>
            <a:r>
              <a:rPr lang="en-US" sz="4670" spc="373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3. IDENTIFICACIÓN DE PARADIGMAS DE PROGRAMACIÓN MEDIANTE EJEMPLOS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427455" y="7624318"/>
            <a:ext cx="12831845" cy="1633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38"/>
              </a:lnSpc>
            </a:pPr>
            <a:r>
              <a:rPr lang="en-US" sz="4670" spc="373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4</a:t>
            </a:r>
            <a:r>
              <a:rPr lang="en-US" sz="4670" spc="373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. ACTIVIDAD COTIDIANA DE MANERA IMPERATIVA Y DECLARATIVA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222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795656">
            <a:off x="-3152448" y="7903869"/>
            <a:ext cx="7814671" cy="2708862"/>
            <a:chOff x="0" y="0"/>
            <a:chExt cx="2058185" cy="7134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58185" cy="713445"/>
            </a:xfrm>
            <a:custGeom>
              <a:avLst/>
              <a:gdLst/>
              <a:ahLst/>
              <a:cxnLst/>
              <a:rect r="r" b="b" t="t" l="l"/>
              <a:pathLst>
                <a:path h="713445" w="2058185">
                  <a:moveTo>
                    <a:pt x="0" y="0"/>
                  </a:moveTo>
                  <a:lnTo>
                    <a:pt x="2058185" y="0"/>
                  </a:lnTo>
                  <a:lnTo>
                    <a:pt x="2058185" y="713445"/>
                  </a:lnTo>
                  <a:lnTo>
                    <a:pt x="0" y="713445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58185" cy="751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78134" y="933450"/>
            <a:ext cx="15731733" cy="93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30"/>
              </a:lnSpc>
            </a:pPr>
            <a:r>
              <a:rPr lang="en-US" sz="5521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EXPLICACIÓN DE LOS CONCEPTOS BÁSICOS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462129"/>
            <a:ext cx="16230600" cy="1402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4887" indent="-437444" lvl="1">
              <a:lnSpc>
                <a:spcPts val="5673"/>
              </a:lnSpc>
              <a:buFont typeface="Arial"/>
              <a:buChar char="•"/>
            </a:pPr>
            <a:r>
              <a:rPr lang="en-US" b="true" sz="4052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Código fuente</a:t>
            </a:r>
            <a:r>
              <a:rPr lang="en-US" b="true" sz="405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es el código que escribimos en el lenguaje de programación que usamos para nuestro programa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589510"/>
            <a:ext cx="15981166" cy="1402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4887" indent="-437444" lvl="1">
              <a:lnSpc>
                <a:spcPts val="5673"/>
              </a:lnSpc>
              <a:buFont typeface="Arial"/>
              <a:buChar char="•"/>
            </a:pPr>
            <a:r>
              <a:rPr lang="en-US" b="true" sz="4052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Código objeto</a:t>
            </a:r>
            <a:r>
              <a:rPr lang="en-US" b="true" sz="405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cuando se completa el proceso de compilación, el resultado se refleja en este código.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716891"/>
            <a:ext cx="15981166" cy="1402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4887" indent="-437444" lvl="1">
              <a:lnSpc>
                <a:spcPts val="5673"/>
              </a:lnSpc>
              <a:buFont typeface="Arial"/>
              <a:buChar char="•"/>
            </a:pPr>
            <a:r>
              <a:rPr lang="en-US" b="true" sz="4052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Código ejecutable</a:t>
            </a:r>
            <a:r>
              <a:rPr lang="en-US" b="true" sz="405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al enlazar el código objeto con las librerías necesarias, lo que sale es el código ejecutable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1222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795656">
            <a:off x="-3451081" y="8597381"/>
            <a:ext cx="7814671" cy="1886756"/>
            <a:chOff x="0" y="0"/>
            <a:chExt cx="2058185" cy="4969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58185" cy="496923"/>
            </a:xfrm>
            <a:custGeom>
              <a:avLst/>
              <a:gdLst/>
              <a:ahLst/>
              <a:cxnLst/>
              <a:rect r="r" b="b" t="t" l="l"/>
              <a:pathLst>
                <a:path h="496923" w="2058185">
                  <a:moveTo>
                    <a:pt x="0" y="0"/>
                  </a:moveTo>
                  <a:lnTo>
                    <a:pt x="2058185" y="0"/>
                  </a:lnTo>
                  <a:lnTo>
                    <a:pt x="2058185" y="496923"/>
                  </a:lnTo>
                  <a:lnTo>
                    <a:pt x="0" y="496923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58185" cy="535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248323" y="933450"/>
            <a:ext cx="1179135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Fases por las que pasa un programa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391757"/>
            <a:ext cx="16230600" cy="1402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3"/>
              </a:lnSpc>
            </a:pPr>
            <a:r>
              <a:rPr lang="en-US" sz="4052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Análisis léxico: </a:t>
            </a:r>
            <a:r>
              <a:rPr lang="en-US" sz="40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 trata de comprobar si los elementos del código son del lenguaje de programación correspondiente.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541348"/>
            <a:ext cx="16230600" cy="1402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3"/>
              </a:lnSpc>
            </a:pPr>
            <a:r>
              <a:rPr lang="en-US" sz="4052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Análisis sintáctico: </a:t>
            </a:r>
            <a:r>
              <a:rPr lang="en-US" sz="40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 debe analizar si el orden de los elementos en el código está bien.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690938"/>
            <a:ext cx="16230600" cy="1402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3"/>
              </a:lnSpc>
            </a:pPr>
            <a:r>
              <a:rPr lang="en-US" sz="4052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 Análisis semántico: </a:t>
            </a:r>
            <a:r>
              <a:rPr lang="en-US" sz="40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 esta fase hay que determinar que las sentencias que ha escrito el programador tengan sentido.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222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795656">
            <a:off x="-3451081" y="8597381"/>
            <a:ext cx="7814671" cy="1886756"/>
            <a:chOff x="0" y="0"/>
            <a:chExt cx="2058185" cy="4969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58185" cy="496923"/>
            </a:xfrm>
            <a:custGeom>
              <a:avLst/>
              <a:gdLst/>
              <a:ahLst/>
              <a:cxnLst/>
              <a:rect r="r" b="b" t="t" l="l"/>
              <a:pathLst>
                <a:path h="496923" w="2058185">
                  <a:moveTo>
                    <a:pt x="0" y="0"/>
                  </a:moveTo>
                  <a:lnTo>
                    <a:pt x="2058185" y="0"/>
                  </a:lnTo>
                  <a:lnTo>
                    <a:pt x="2058185" y="496923"/>
                  </a:lnTo>
                  <a:lnTo>
                    <a:pt x="0" y="496923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58185" cy="535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248323" y="933450"/>
            <a:ext cx="1179135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Fases por las que pasa un programa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391757"/>
            <a:ext cx="16230600" cy="1402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3"/>
              </a:lnSpc>
            </a:pPr>
            <a:r>
              <a:rPr lang="en-US" sz="4052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 Generación de código intermedio: </a:t>
            </a:r>
            <a:r>
              <a:rPr lang="en-US" sz="40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 no hay ningún error previo, se genera una representación intermedia (fase opcional).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541348"/>
            <a:ext cx="16230600" cy="1402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3"/>
              </a:lnSpc>
            </a:pPr>
            <a:r>
              <a:rPr lang="en-US" sz="4052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5. Optimización de código intermedio: </a:t>
            </a:r>
            <a:r>
              <a:rPr lang="en-US" sz="40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 igual que la fase anterior, esta también es opcional. Es mejorar el código intermedio.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690938"/>
            <a:ext cx="16230600" cy="1402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3"/>
              </a:lnSpc>
            </a:pPr>
            <a:r>
              <a:rPr lang="en-US" sz="4052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6. Generación de código final: </a:t>
            </a:r>
            <a:r>
              <a:rPr lang="en-US" sz="40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aquí podremos generar código objeto para que reciba las instrucciones de la CPU.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222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49977" y="933450"/>
            <a:ext cx="1198804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Ejemplos concretos de los conceptos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165389"/>
            <a:ext cx="16230600" cy="687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3"/>
              </a:lnSpc>
            </a:pPr>
            <a:r>
              <a:rPr lang="en-US" sz="40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Para esta línea de código </a:t>
            </a:r>
            <a:r>
              <a:rPr lang="en-US" sz="4052" i="true" b="true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int total = “hola”; </a:t>
            </a:r>
            <a:r>
              <a:rPr lang="en-US" sz="40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tenemos lo siguiente: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272076"/>
            <a:ext cx="16230600" cy="2116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4887" indent="-437444" lvl="1">
              <a:lnSpc>
                <a:spcPts val="5673"/>
              </a:lnSpc>
              <a:buFont typeface="Arial"/>
              <a:buChar char="•"/>
            </a:pPr>
            <a:r>
              <a:rPr lang="en-US" b="true" sz="405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Código fuente: </a:t>
            </a:r>
            <a:r>
              <a:rPr lang="en-US" sz="40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código pasa por el análisis léxico y sintáctico, pero en el semántico da error porque no tiene sentido, lo puedes arreglar poniendo </a:t>
            </a:r>
            <a:r>
              <a:rPr lang="en-US" b="true" sz="4052" i="true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int total = 5 + 3</a:t>
            </a:r>
            <a:r>
              <a:rPr lang="en-US" sz="40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731373"/>
            <a:ext cx="16230600" cy="1402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4887" indent="-437444" lvl="1">
              <a:lnSpc>
                <a:spcPts val="5673"/>
              </a:lnSpc>
              <a:buFont typeface="Arial"/>
              <a:buChar char="•"/>
            </a:pPr>
            <a:r>
              <a:rPr lang="en-US" b="true" sz="405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Código objeto: </a:t>
            </a:r>
            <a:r>
              <a:rPr lang="en-US" sz="40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este código es compilado y se convierte en un archivo binario intermedio.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552495"/>
            <a:ext cx="16230600" cy="1402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4887" indent="-437444" lvl="1">
              <a:lnSpc>
                <a:spcPts val="5673"/>
              </a:lnSpc>
              <a:buFont typeface="Arial"/>
              <a:buChar char="•"/>
            </a:pPr>
            <a:r>
              <a:rPr lang="en-US" b="true" sz="405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Código ejecutable: </a:t>
            </a:r>
            <a:r>
              <a:rPr lang="en-US" sz="40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este de aquí participa en la última fase, en conjunto con el </a:t>
            </a:r>
            <a:r>
              <a:rPr lang="en-US" sz="4052" i="true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enlazador (linker).</a:t>
            </a:r>
            <a:r>
              <a:rPr lang="en-US" sz="40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222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78134" y="933450"/>
            <a:ext cx="15981166" cy="813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0"/>
              </a:lnSpc>
            </a:pPr>
            <a:r>
              <a:rPr lang="en-US" sz="4721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CLASIFICACIÓN DE LENGUAJES DE PROGRAMACIÓN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076758" y="2083189"/>
            <a:ext cx="6134484" cy="789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73"/>
              </a:lnSpc>
            </a:pPr>
            <a:r>
              <a:rPr lang="en-US" sz="462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Nivel de abstracción: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6883" y="3244478"/>
            <a:ext cx="16365284" cy="913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6465" indent="-283232" lvl="1">
              <a:lnSpc>
                <a:spcPts val="367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Alto: el programador puede leer y escribir código de forma sencilla, sin atender a muchos detalles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DAHV8S3NbDc</dc:identifier>
  <dcterms:modified xsi:type="dcterms:W3CDTF">2011-08-01T06:04:30Z</dcterms:modified>
  <cp:revision>1</cp:revision>
  <dc:title>Reconocimiento de Elementos en el Desarrollo de un Programa Informático</dc:title>
</cp:coreProperties>
</file>