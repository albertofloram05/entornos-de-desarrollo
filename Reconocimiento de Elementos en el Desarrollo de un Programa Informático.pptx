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HK Grotesk Bold" charset="1" panose="00000800000000000000"/>
      <p:regular r:id="rId16"/>
    </p:embeddedFont>
    <p:embeddedFont>
      <p:font typeface="HK Grotesk" charset="1" panose="00000500000000000000"/>
      <p:regular r:id="rId17"/>
    </p:embeddedFont>
    <p:embeddedFont>
      <p:font typeface="HK Grotesk Medium" charset="1" panose="00000600000000000000"/>
      <p:regular r:id="rId18"/>
    </p:embeddedFont>
    <p:embeddedFont>
      <p:font typeface="Open Sans Bold" charset="1" panose="020B0806030504020204"/>
      <p:regular r:id="rId19"/>
    </p:embeddedFont>
    <p:embeddedFont>
      <p:font typeface="Open Sans" charset="1" panose="020B0606030504020204"/>
      <p:regular r:id="rId20"/>
    </p:embeddedFont>
    <p:embeddedFont>
      <p:font typeface="Open Sans Bold Italics" charset="1" panose="020B0806030504020204"/>
      <p:regular r:id="rId21"/>
    </p:embeddedFont>
    <p:embeddedFont>
      <p:font typeface="Open Sans Italics" charset="1" panose="020B0606030504020204"/>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fonts/font22.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12229D"/>
        </a:solidFill>
      </p:bgPr>
    </p:bg>
    <p:spTree>
      <p:nvGrpSpPr>
        <p:cNvPr id="1" name=""/>
        <p:cNvGrpSpPr/>
        <p:nvPr/>
      </p:nvGrpSpPr>
      <p:grpSpPr>
        <a:xfrm>
          <a:off x="0" y="0"/>
          <a:ext cx="0" cy="0"/>
          <a:chOff x="0" y="0"/>
          <a:chExt cx="0" cy="0"/>
        </a:xfrm>
      </p:grpSpPr>
      <p:grpSp>
        <p:nvGrpSpPr>
          <p:cNvPr name="Group 2" id="2"/>
          <p:cNvGrpSpPr/>
          <p:nvPr/>
        </p:nvGrpSpPr>
        <p:grpSpPr>
          <a:xfrm rot="-2621922">
            <a:off x="-4755808" y="-1546492"/>
            <a:ext cx="11621174" cy="5420098"/>
            <a:chOff x="0" y="0"/>
            <a:chExt cx="3060721" cy="1427516"/>
          </a:xfrm>
        </p:grpSpPr>
        <p:sp>
          <p:nvSpPr>
            <p:cNvPr name="Freeform 3" id="3"/>
            <p:cNvSpPr/>
            <p:nvPr/>
          </p:nvSpPr>
          <p:spPr>
            <a:xfrm flipH="false" flipV="false" rot="0">
              <a:off x="0" y="0"/>
              <a:ext cx="3060721" cy="1427516"/>
            </a:xfrm>
            <a:custGeom>
              <a:avLst/>
              <a:gdLst/>
              <a:ahLst/>
              <a:cxnLst/>
              <a:rect r="r" b="b" t="t" l="l"/>
              <a:pathLst>
                <a:path h="1427516" w="3060721">
                  <a:moveTo>
                    <a:pt x="0" y="0"/>
                  </a:moveTo>
                  <a:lnTo>
                    <a:pt x="3060721" y="0"/>
                  </a:lnTo>
                  <a:lnTo>
                    <a:pt x="3060721" y="1427516"/>
                  </a:lnTo>
                  <a:lnTo>
                    <a:pt x="0" y="1427516"/>
                  </a:lnTo>
                  <a:close/>
                </a:path>
              </a:pathLst>
            </a:custGeom>
            <a:solidFill>
              <a:srgbClr val="5CB6F9"/>
            </a:solidFill>
            <a:ln w="85725" cap="sq">
              <a:solidFill>
                <a:srgbClr val="455D6A"/>
              </a:solidFill>
              <a:prstDash val="solid"/>
              <a:miter/>
            </a:ln>
          </p:spPr>
        </p:sp>
        <p:sp>
          <p:nvSpPr>
            <p:cNvPr name="TextBox 4" id="4"/>
            <p:cNvSpPr txBox="true"/>
            <p:nvPr/>
          </p:nvSpPr>
          <p:spPr>
            <a:xfrm>
              <a:off x="0" y="-38100"/>
              <a:ext cx="3060721" cy="1465616"/>
            </a:xfrm>
            <a:prstGeom prst="rect">
              <a:avLst/>
            </a:prstGeom>
          </p:spPr>
          <p:txBody>
            <a:bodyPr anchor="ctr" rtlCol="false" tIns="50800" lIns="50800" bIns="50800" rIns="50800"/>
            <a:lstStyle/>
            <a:p>
              <a:pPr algn="ctr">
                <a:lnSpc>
                  <a:spcPts val="2659"/>
                </a:lnSpc>
                <a:spcBef>
                  <a:spcPct val="0"/>
                </a:spcBef>
              </a:pPr>
            </a:p>
          </p:txBody>
        </p:sp>
      </p:grpSp>
      <p:sp>
        <p:nvSpPr>
          <p:cNvPr name="Freeform 5" id="5"/>
          <p:cNvSpPr/>
          <p:nvPr/>
        </p:nvSpPr>
        <p:spPr>
          <a:xfrm flipH="false" flipV="false" rot="0">
            <a:off x="9144000" y="-665329"/>
            <a:ext cx="6927995" cy="5305789"/>
          </a:xfrm>
          <a:custGeom>
            <a:avLst/>
            <a:gdLst/>
            <a:ahLst/>
            <a:cxnLst/>
            <a:rect r="r" b="b" t="t" l="l"/>
            <a:pathLst>
              <a:path h="5305789" w="6927995">
                <a:moveTo>
                  <a:pt x="0" y="0"/>
                </a:moveTo>
                <a:lnTo>
                  <a:pt x="6927995" y="0"/>
                </a:lnTo>
                <a:lnTo>
                  <a:pt x="6927995" y="5305790"/>
                </a:lnTo>
                <a:lnTo>
                  <a:pt x="0" y="5305790"/>
                </a:lnTo>
                <a:lnTo>
                  <a:pt x="0" y="0"/>
                </a:lnTo>
                <a:close/>
              </a:path>
            </a:pathLst>
          </a:custGeom>
          <a:blipFill>
            <a:blip r:embed="rId2"/>
            <a:stretch>
              <a:fillRect l="0" t="-15287" r="0" b="-15287"/>
            </a:stretch>
          </a:blipFill>
        </p:spPr>
      </p:sp>
      <p:sp>
        <p:nvSpPr>
          <p:cNvPr name="TextBox 6" id="6"/>
          <p:cNvSpPr txBox="true"/>
          <p:nvPr/>
        </p:nvSpPr>
        <p:spPr>
          <a:xfrm rot="0">
            <a:off x="2723018" y="3763021"/>
            <a:ext cx="12361398" cy="2997742"/>
          </a:xfrm>
          <a:prstGeom prst="rect">
            <a:avLst/>
          </a:prstGeom>
        </p:spPr>
        <p:txBody>
          <a:bodyPr anchor="t" rtlCol="false" tIns="0" lIns="0" bIns="0" rIns="0">
            <a:spAutoFit/>
          </a:bodyPr>
          <a:lstStyle/>
          <a:p>
            <a:pPr algn="ctr">
              <a:lnSpc>
                <a:spcPts val="8020"/>
              </a:lnSpc>
            </a:pPr>
            <a:r>
              <a:rPr lang="en-US" b="true" sz="5728">
                <a:solidFill>
                  <a:srgbClr val="F4F6FC"/>
                </a:solidFill>
                <a:latin typeface="HK Grotesk Bold"/>
                <a:ea typeface="HK Grotesk Bold"/>
                <a:cs typeface="HK Grotesk Bold"/>
                <a:sym typeface="HK Grotesk Bold"/>
              </a:rPr>
              <a:t>Reconocimiento de Elementos en el Desarrollo de un Programa Informático</a:t>
            </a:r>
          </a:p>
        </p:txBody>
      </p:sp>
      <p:grpSp>
        <p:nvGrpSpPr>
          <p:cNvPr name="Group 7" id="7"/>
          <p:cNvGrpSpPr/>
          <p:nvPr/>
        </p:nvGrpSpPr>
        <p:grpSpPr>
          <a:xfrm rot="-2621922">
            <a:off x="9851975" y="4940133"/>
            <a:ext cx="13309922" cy="5928233"/>
            <a:chOff x="0" y="0"/>
            <a:chExt cx="3505494" cy="1561345"/>
          </a:xfrm>
        </p:grpSpPr>
        <p:sp>
          <p:nvSpPr>
            <p:cNvPr name="Freeform 8" id="8"/>
            <p:cNvSpPr/>
            <p:nvPr/>
          </p:nvSpPr>
          <p:spPr>
            <a:xfrm flipH="false" flipV="false" rot="0">
              <a:off x="0" y="0"/>
              <a:ext cx="3505494" cy="1561345"/>
            </a:xfrm>
            <a:custGeom>
              <a:avLst/>
              <a:gdLst/>
              <a:ahLst/>
              <a:cxnLst/>
              <a:rect r="r" b="b" t="t" l="l"/>
              <a:pathLst>
                <a:path h="1561345" w="3505494">
                  <a:moveTo>
                    <a:pt x="0" y="0"/>
                  </a:moveTo>
                  <a:lnTo>
                    <a:pt x="3505494" y="0"/>
                  </a:lnTo>
                  <a:lnTo>
                    <a:pt x="3505494" y="1561345"/>
                  </a:lnTo>
                  <a:lnTo>
                    <a:pt x="0" y="1561345"/>
                  </a:lnTo>
                  <a:close/>
                </a:path>
              </a:pathLst>
            </a:custGeom>
            <a:solidFill>
              <a:srgbClr val="233DFF"/>
            </a:solidFill>
            <a:ln w="85725" cap="sq">
              <a:solidFill>
                <a:srgbClr val="455D6A"/>
              </a:solidFill>
              <a:prstDash val="solid"/>
              <a:miter/>
            </a:ln>
          </p:spPr>
        </p:sp>
        <p:sp>
          <p:nvSpPr>
            <p:cNvPr name="TextBox 9" id="9"/>
            <p:cNvSpPr txBox="true"/>
            <p:nvPr/>
          </p:nvSpPr>
          <p:spPr>
            <a:xfrm>
              <a:off x="0" y="-38100"/>
              <a:ext cx="3505494" cy="1599445"/>
            </a:xfrm>
            <a:prstGeom prst="rect">
              <a:avLst/>
            </a:prstGeom>
          </p:spPr>
          <p:txBody>
            <a:bodyPr anchor="ctr" rtlCol="false" tIns="50800" lIns="50800" bIns="50800" rIns="50800"/>
            <a:lstStyle/>
            <a:p>
              <a:pPr algn="ctr">
                <a:lnSpc>
                  <a:spcPts val="2659"/>
                </a:lnSpc>
                <a:spcBef>
                  <a:spcPct val="0"/>
                </a:spcBef>
              </a:pPr>
            </a:p>
          </p:txBody>
        </p:sp>
      </p:grpSp>
      <p:sp>
        <p:nvSpPr>
          <p:cNvPr name="Freeform 10" id="10"/>
          <p:cNvSpPr/>
          <p:nvPr/>
        </p:nvSpPr>
        <p:spPr>
          <a:xfrm flipH="false" flipV="false" rot="0">
            <a:off x="2723018" y="5319042"/>
            <a:ext cx="3636343" cy="3636343"/>
          </a:xfrm>
          <a:custGeom>
            <a:avLst/>
            <a:gdLst/>
            <a:ahLst/>
            <a:cxnLst/>
            <a:rect r="r" b="b" t="t" l="l"/>
            <a:pathLst>
              <a:path h="3636343" w="3636343">
                <a:moveTo>
                  <a:pt x="0" y="0"/>
                </a:moveTo>
                <a:lnTo>
                  <a:pt x="3636343" y="0"/>
                </a:lnTo>
                <a:lnTo>
                  <a:pt x="3636343" y="3636343"/>
                </a:lnTo>
                <a:lnTo>
                  <a:pt x="0" y="3636343"/>
                </a:lnTo>
                <a:lnTo>
                  <a:pt x="0" y="0"/>
                </a:lnTo>
                <a:close/>
              </a:path>
            </a:pathLst>
          </a:custGeom>
          <a:blipFill>
            <a:blip r:embed="rId3"/>
            <a:stretch>
              <a:fillRect l="0" t="0" r="0" b="0"/>
            </a:stretch>
          </a:blipFill>
        </p:spPr>
      </p:sp>
      <p:grpSp>
        <p:nvGrpSpPr>
          <p:cNvPr name="Group 11" id="11"/>
          <p:cNvGrpSpPr/>
          <p:nvPr/>
        </p:nvGrpSpPr>
        <p:grpSpPr>
          <a:xfrm rot="0">
            <a:off x="-1047664" y="8696437"/>
            <a:ext cx="12426524" cy="2181794"/>
            <a:chOff x="0" y="0"/>
            <a:chExt cx="3272829" cy="574629"/>
          </a:xfrm>
        </p:grpSpPr>
        <p:sp>
          <p:nvSpPr>
            <p:cNvPr name="Freeform 12" id="12"/>
            <p:cNvSpPr/>
            <p:nvPr/>
          </p:nvSpPr>
          <p:spPr>
            <a:xfrm flipH="false" flipV="false" rot="0">
              <a:off x="0" y="0"/>
              <a:ext cx="3272829" cy="574629"/>
            </a:xfrm>
            <a:custGeom>
              <a:avLst/>
              <a:gdLst/>
              <a:ahLst/>
              <a:cxnLst/>
              <a:rect r="r" b="b" t="t" l="l"/>
              <a:pathLst>
                <a:path h="574629" w="3272829">
                  <a:moveTo>
                    <a:pt x="0" y="0"/>
                  </a:moveTo>
                  <a:lnTo>
                    <a:pt x="3272829" y="0"/>
                  </a:lnTo>
                  <a:lnTo>
                    <a:pt x="3272829" y="574629"/>
                  </a:lnTo>
                  <a:lnTo>
                    <a:pt x="0" y="574629"/>
                  </a:lnTo>
                  <a:close/>
                </a:path>
              </a:pathLst>
            </a:custGeom>
            <a:solidFill>
              <a:srgbClr val="CAE8FF"/>
            </a:solidFill>
            <a:ln w="85725" cap="sq">
              <a:solidFill>
                <a:srgbClr val="FF5757"/>
              </a:solidFill>
              <a:prstDash val="solid"/>
              <a:miter/>
            </a:ln>
          </p:spPr>
        </p:sp>
        <p:sp>
          <p:nvSpPr>
            <p:cNvPr name="TextBox 13" id="13"/>
            <p:cNvSpPr txBox="true"/>
            <p:nvPr/>
          </p:nvSpPr>
          <p:spPr>
            <a:xfrm>
              <a:off x="0" y="-38100"/>
              <a:ext cx="3272829" cy="612729"/>
            </a:xfrm>
            <a:prstGeom prst="rect">
              <a:avLst/>
            </a:prstGeom>
          </p:spPr>
          <p:txBody>
            <a:bodyPr anchor="ctr" rtlCol="false" tIns="50800" lIns="50800" bIns="50800" rIns="50800"/>
            <a:lstStyle/>
            <a:p>
              <a:pPr algn="ctr">
                <a:lnSpc>
                  <a:spcPts val="2659"/>
                </a:lnSpc>
              </a:pPr>
            </a:p>
          </p:txBody>
        </p:sp>
      </p:grpSp>
      <p:sp>
        <p:nvSpPr>
          <p:cNvPr name="TextBox 14" id="14"/>
          <p:cNvSpPr txBox="true"/>
          <p:nvPr/>
        </p:nvSpPr>
        <p:spPr>
          <a:xfrm rot="0">
            <a:off x="0" y="9172575"/>
            <a:ext cx="11202797" cy="745725"/>
          </a:xfrm>
          <a:prstGeom prst="rect">
            <a:avLst/>
          </a:prstGeom>
        </p:spPr>
        <p:txBody>
          <a:bodyPr anchor="t" rtlCol="false" tIns="0" lIns="0" bIns="0" rIns="0">
            <a:spAutoFit/>
          </a:bodyPr>
          <a:lstStyle/>
          <a:p>
            <a:pPr algn="ctr">
              <a:lnSpc>
                <a:spcPts val="6147"/>
              </a:lnSpc>
            </a:pPr>
            <a:r>
              <a:rPr lang="en-US" b="true" sz="4390" spc="351">
                <a:solidFill>
                  <a:srgbClr val="050A30"/>
                </a:solidFill>
                <a:latin typeface="HK Grotesk Bold"/>
                <a:ea typeface="HK Grotesk Bold"/>
                <a:cs typeface="HK Grotesk Bold"/>
                <a:sym typeface="HK Grotesk Bold"/>
              </a:rPr>
              <a:t>ALBERTO FLORIDO RAMOS - 1ºA DAM</a:t>
            </a:r>
          </a:p>
        </p:txBody>
      </p:sp>
    </p:spTree>
  </p:cSld>
  <p:clrMapOvr>
    <a:masterClrMapping/>
  </p:clrMapOvr>
</p:sld>
</file>

<file path=ppt/slides/slide2.xml><?xml version="1.0" encoding="utf-8"?>
<p:sld xmlns:p="http://schemas.openxmlformats.org/presentationml/2006/main" xmlns:a="http://schemas.openxmlformats.org/drawingml/2006/main">
  <p:cSld>
    <p:bg>
      <p:bgPr>
        <a:solidFill>
          <a:srgbClr val="12229D"/>
        </a:solidFill>
      </p:bgPr>
    </p:bg>
    <p:spTree>
      <p:nvGrpSpPr>
        <p:cNvPr id="1" name=""/>
        <p:cNvGrpSpPr/>
        <p:nvPr/>
      </p:nvGrpSpPr>
      <p:grpSpPr>
        <a:xfrm>
          <a:off x="0" y="0"/>
          <a:ext cx="0" cy="0"/>
          <a:chOff x="0" y="0"/>
          <a:chExt cx="0" cy="0"/>
        </a:xfrm>
      </p:grpSpPr>
      <p:grpSp>
        <p:nvGrpSpPr>
          <p:cNvPr name="Group 2" id="2"/>
          <p:cNvGrpSpPr/>
          <p:nvPr/>
        </p:nvGrpSpPr>
        <p:grpSpPr>
          <a:xfrm rot="0">
            <a:off x="0" y="0"/>
            <a:ext cx="4117331" cy="10287000"/>
            <a:chOff x="0" y="0"/>
            <a:chExt cx="1084400" cy="2709333"/>
          </a:xfrm>
        </p:grpSpPr>
        <p:sp>
          <p:nvSpPr>
            <p:cNvPr name="Freeform 3" id="3"/>
            <p:cNvSpPr/>
            <p:nvPr/>
          </p:nvSpPr>
          <p:spPr>
            <a:xfrm flipH="false" flipV="false" rot="0">
              <a:off x="0" y="0"/>
              <a:ext cx="1084400" cy="2709333"/>
            </a:xfrm>
            <a:custGeom>
              <a:avLst/>
              <a:gdLst/>
              <a:ahLst/>
              <a:cxnLst/>
              <a:rect r="r" b="b" t="t" l="l"/>
              <a:pathLst>
                <a:path h="2709333" w="1084400">
                  <a:moveTo>
                    <a:pt x="0" y="0"/>
                  </a:moveTo>
                  <a:lnTo>
                    <a:pt x="1084400" y="0"/>
                  </a:lnTo>
                  <a:lnTo>
                    <a:pt x="1084400" y="2709333"/>
                  </a:lnTo>
                  <a:lnTo>
                    <a:pt x="0" y="2709333"/>
                  </a:lnTo>
                  <a:close/>
                </a:path>
              </a:pathLst>
            </a:custGeom>
            <a:solidFill>
              <a:srgbClr val="CAE8FF"/>
            </a:solidFill>
            <a:ln w="114300" cap="sq">
              <a:solidFill>
                <a:srgbClr val="1800AD"/>
              </a:solidFill>
              <a:prstDash val="lgDash"/>
              <a:miter/>
            </a:ln>
          </p:spPr>
        </p:sp>
        <p:sp>
          <p:nvSpPr>
            <p:cNvPr name="TextBox 4" id="4"/>
            <p:cNvSpPr txBox="true"/>
            <p:nvPr/>
          </p:nvSpPr>
          <p:spPr>
            <a:xfrm>
              <a:off x="0" y="-38100"/>
              <a:ext cx="1084400" cy="2747433"/>
            </a:xfrm>
            <a:prstGeom prst="rect">
              <a:avLst/>
            </a:prstGeom>
          </p:spPr>
          <p:txBody>
            <a:bodyPr anchor="ctr" rtlCol="false" tIns="50800" lIns="50800" bIns="50800" rIns="50800"/>
            <a:lstStyle/>
            <a:p>
              <a:pPr algn="ctr">
                <a:lnSpc>
                  <a:spcPts val="2659"/>
                </a:lnSpc>
              </a:pPr>
            </a:p>
          </p:txBody>
        </p:sp>
      </p:grpSp>
      <p:sp>
        <p:nvSpPr>
          <p:cNvPr name="TextBox 5" id="5"/>
          <p:cNvSpPr txBox="true"/>
          <p:nvPr/>
        </p:nvSpPr>
        <p:spPr>
          <a:xfrm rot="0">
            <a:off x="456144" y="4405375"/>
            <a:ext cx="3205044" cy="1311183"/>
          </a:xfrm>
          <a:prstGeom prst="rect">
            <a:avLst/>
          </a:prstGeom>
        </p:spPr>
        <p:txBody>
          <a:bodyPr anchor="t" rtlCol="false" tIns="0" lIns="0" bIns="0" rIns="0">
            <a:spAutoFit/>
          </a:bodyPr>
          <a:lstStyle/>
          <a:p>
            <a:pPr algn="ctr">
              <a:lnSpc>
                <a:spcPts val="10680"/>
              </a:lnSpc>
            </a:pPr>
            <a:r>
              <a:rPr lang="en-US" b="true" sz="7628">
                <a:solidFill>
                  <a:srgbClr val="1800AD"/>
                </a:solidFill>
                <a:latin typeface="HK Grotesk Bold"/>
                <a:ea typeface="HK Grotesk Bold"/>
                <a:cs typeface="HK Grotesk Bold"/>
                <a:sym typeface="HK Grotesk Bold"/>
              </a:rPr>
              <a:t>ÍNDICE</a:t>
            </a:r>
          </a:p>
        </p:txBody>
      </p:sp>
      <p:sp>
        <p:nvSpPr>
          <p:cNvPr name="TextBox 6" id="6"/>
          <p:cNvSpPr txBox="true"/>
          <p:nvPr/>
        </p:nvSpPr>
        <p:spPr>
          <a:xfrm rot="0">
            <a:off x="4427455" y="1033288"/>
            <a:ext cx="12005288" cy="1600216"/>
          </a:xfrm>
          <a:prstGeom prst="rect">
            <a:avLst/>
          </a:prstGeom>
        </p:spPr>
        <p:txBody>
          <a:bodyPr anchor="t" rtlCol="false" tIns="0" lIns="0" bIns="0" rIns="0">
            <a:spAutoFit/>
          </a:bodyPr>
          <a:lstStyle/>
          <a:p>
            <a:pPr algn="l">
              <a:lnSpc>
                <a:spcPts val="6444"/>
              </a:lnSpc>
            </a:pPr>
            <a:r>
              <a:rPr lang="en-US" sz="4603" spc="368">
                <a:solidFill>
                  <a:srgbClr val="F4F6FC"/>
                </a:solidFill>
                <a:latin typeface="HK Grotesk"/>
                <a:ea typeface="HK Grotesk"/>
                <a:cs typeface="HK Grotesk"/>
                <a:sym typeface="HK Grotesk"/>
              </a:rPr>
              <a:t>1. EXPLICACIÓN DE LOS CONCEPTOS BÁSICOS.</a:t>
            </a:r>
          </a:p>
        </p:txBody>
      </p:sp>
      <p:sp>
        <p:nvSpPr>
          <p:cNvPr name="TextBox 7" id="7"/>
          <p:cNvSpPr txBox="true"/>
          <p:nvPr/>
        </p:nvSpPr>
        <p:spPr>
          <a:xfrm rot="0">
            <a:off x="9139238" y="4264978"/>
            <a:ext cx="9525" cy="1576069"/>
          </a:xfrm>
          <a:prstGeom prst="rect">
            <a:avLst/>
          </a:prstGeom>
        </p:spPr>
        <p:txBody>
          <a:bodyPr anchor="t" rtlCol="false" tIns="0" lIns="0" bIns="0" rIns="0">
            <a:spAutoFit/>
          </a:bodyPr>
          <a:lstStyle/>
          <a:p>
            <a:pPr algn="ctr">
              <a:lnSpc>
                <a:spcPts val="12880"/>
              </a:lnSpc>
            </a:pPr>
          </a:p>
        </p:txBody>
      </p:sp>
      <p:sp>
        <p:nvSpPr>
          <p:cNvPr name="TextBox 8" id="8"/>
          <p:cNvSpPr txBox="true"/>
          <p:nvPr/>
        </p:nvSpPr>
        <p:spPr>
          <a:xfrm rot="0">
            <a:off x="4436696" y="3112627"/>
            <a:ext cx="11996047" cy="1599057"/>
          </a:xfrm>
          <a:prstGeom prst="rect">
            <a:avLst/>
          </a:prstGeom>
        </p:spPr>
        <p:txBody>
          <a:bodyPr anchor="t" rtlCol="false" tIns="0" lIns="0" bIns="0" rIns="0">
            <a:spAutoFit/>
          </a:bodyPr>
          <a:lstStyle/>
          <a:p>
            <a:pPr algn="l">
              <a:lnSpc>
                <a:spcPts val="6439"/>
              </a:lnSpc>
            </a:pPr>
            <a:r>
              <a:rPr lang="en-US" sz="4599" spc="367">
                <a:solidFill>
                  <a:srgbClr val="F4F6FC"/>
                </a:solidFill>
                <a:latin typeface="HK Grotesk"/>
                <a:ea typeface="HK Grotesk"/>
                <a:cs typeface="HK Grotesk"/>
                <a:sym typeface="HK Grotesk"/>
              </a:rPr>
              <a:t>2. CLASIFICACIÓN DE LENGUAJES DE PROGRAMACIÓN.</a:t>
            </a:r>
          </a:p>
        </p:txBody>
      </p:sp>
      <p:sp>
        <p:nvSpPr>
          <p:cNvPr name="TextBox 9" id="9"/>
          <p:cNvSpPr txBox="true"/>
          <p:nvPr/>
        </p:nvSpPr>
        <p:spPr>
          <a:xfrm rot="0">
            <a:off x="4427455" y="5187934"/>
            <a:ext cx="12633482" cy="1610195"/>
          </a:xfrm>
          <a:prstGeom prst="rect">
            <a:avLst/>
          </a:prstGeom>
        </p:spPr>
        <p:txBody>
          <a:bodyPr anchor="t" rtlCol="false" tIns="0" lIns="0" bIns="0" rIns="0">
            <a:spAutoFit/>
          </a:bodyPr>
          <a:lstStyle/>
          <a:p>
            <a:pPr algn="l">
              <a:lnSpc>
                <a:spcPts val="6436"/>
              </a:lnSpc>
            </a:pPr>
            <a:r>
              <a:rPr lang="en-US" sz="4597" spc="367">
                <a:solidFill>
                  <a:srgbClr val="F4F6FC"/>
                </a:solidFill>
                <a:latin typeface="HK Grotesk"/>
                <a:ea typeface="HK Grotesk"/>
                <a:cs typeface="HK Grotesk"/>
                <a:sym typeface="HK Grotesk"/>
              </a:rPr>
              <a:t>3. IDENTIFICACIÓN DE PARADIGMAS DE PROGRAMACIÓN MEDIANTE EJEMPLOS</a:t>
            </a:r>
          </a:p>
        </p:txBody>
      </p:sp>
      <p:sp>
        <p:nvSpPr>
          <p:cNvPr name="TextBox 10" id="10"/>
          <p:cNvSpPr txBox="true"/>
          <p:nvPr/>
        </p:nvSpPr>
        <p:spPr>
          <a:xfrm rot="0">
            <a:off x="4427455" y="7274380"/>
            <a:ext cx="12831845" cy="1597660"/>
          </a:xfrm>
          <a:prstGeom prst="rect">
            <a:avLst/>
          </a:prstGeom>
        </p:spPr>
        <p:txBody>
          <a:bodyPr anchor="t" rtlCol="false" tIns="0" lIns="0" bIns="0" rIns="0">
            <a:spAutoFit/>
          </a:bodyPr>
          <a:lstStyle/>
          <a:p>
            <a:pPr algn="l">
              <a:lnSpc>
                <a:spcPts val="6439"/>
              </a:lnSpc>
            </a:pPr>
            <a:r>
              <a:rPr lang="en-US" sz="4599" spc="367">
                <a:solidFill>
                  <a:srgbClr val="F4F6FC"/>
                </a:solidFill>
                <a:latin typeface="HK Grotesk"/>
                <a:ea typeface="HK Grotesk"/>
                <a:cs typeface="HK Grotesk"/>
                <a:sym typeface="HK Grotesk"/>
              </a:rPr>
              <a:t>4</a:t>
            </a:r>
            <a:r>
              <a:rPr lang="en-US" sz="4599" spc="367">
                <a:solidFill>
                  <a:srgbClr val="F4F6FC"/>
                </a:solidFill>
                <a:latin typeface="HK Grotesk"/>
                <a:ea typeface="HK Grotesk"/>
                <a:cs typeface="HK Grotesk"/>
                <a:sym typeface="HK Grotesk"/>
              </a:rPr>
              <a:t>. ACTIVIDAD COTIDIANA DE MANERA IMPERATIVA Y DECLARATIVA</a:t>
            </a:r>
          </a:p>
        </p:txBody>
      </p:sp>
      <p:sp>
        <p:nvSpPr>
          <p:cNvPr name="TextBox 11" id="11"/>
          <p:cNvSpPr txBox="true"/>
          <p:nvPr/>
        </p:nvSpPr>
        <p:spPr>
          <a:xfrm rot="0">
            <a:off x="16497516" y="1316075"/>
            <a:ext cx="1207413" cy="1028543"/>
          </a:xfrm>
          <a:prstGeom prst="rect">
            <a:avLst/>
          </a:prstGeom>
        </p:spPr>
        <p:txBody>
          <a:bodyPr anchor="t" rtlCol="false" tIns="0" lIns="0" bIns="0" rIns="0">
            <a:spAutoFit/>
          </a:bodyPr>
          <a:lstStyle/>
          <a:p>
            <a:pPr algn="ctr">
              <a:lnSpc>
                <a:spcPts val="8408"/>
              </a:lnSpc>
              <a:spcBef>
                <a:spcPct val="0"/>
              </a:spcBef>
            </a:pPr>
            <a:r>
              <a:rPr lang="en-US" b="true" sz="6006" u="sng">
                <a:solidFill>
                  <a:srgbClr val="FFFFFF"/>
                </a:solidFill>
                <a:latin typeface="HK Grotesk Bold"/>
                <a:ea typeface="HK Grotesk Bold"/>
                <a:cs typeface="HK Grotesk Bold"/>
                <a:sym typeface="HK Grotesk Bold"/>
              </a:rPr>
              <a:t>3-5</a:t>
            </a:r>
          </a:p>
        </p:txBody>
      </p:sp>
      <p:sp>
        <p:nvSpPr>
          <p:cNvPr name="TextBox 12" id="12"/>
          <p:cNvSpPr txBox="true"/>
          <p:nvPr/>
        </p:nvSpPr>
        <p:spPr>
          <a:xfrm rot="0">
            <a:off x="17041416" y="3394835"/>
            <a:ext cx="435769" cy="1028543"/>
          </a:xfrm>
          <a:prstGeom prst="rect">
            <a:avLst/>
          </a:prstGeom>
        </p:spPr>
        <p:txBody>
          <a:bodyPr anchor="t" rtlCol="false" tIns="0" lIns="0" bIns="0" rIns="0">
            <a:spAutoFit/>
          </a:bodyPr>
          <a:lstStyle/>
          <a:p>
            <a:pPr algn="ctr">
              <a:lnSpc>
                <a:spcPts val="8408"/>
              </a:lnSpc>
              <a:spcBef>
                <a:spcPct val="0"/>
              </a:spcBef>
            </a:pPr>
            <a:r>
              <a:rPr lang="en-US" b="true" sz="6006" u="sng">
                <a:solidFill>
                  <a:srgbClr val="FFFFFF"/>
                </a:solidFill>
                <a:latin typeface="HK Grotesk Medium"/>
                <a:ea typeface="HK Grotesk Medium"/>
                <a:cs typeface="HK Grotesk Medium"/>
                <a:sym typeface="HK Grotesk Medium"/>
              </a:rPr>
              <a:t>6</a:t>
            </a:r>
          </a:p>
        </p:txBody>
      </p:sp>
      <p:sp>
        <p:nvSpPr>
          <p:cNvPr name="TextBox 13" id="13"/>
          <p:cNvSpPr txBox="true"/>
          <p:nvPr/>
        </p:nvSpPr>
        <p:spPr>
          <a:xfrm rot="0">
            <a:off x="17060973" y="5602258"/>
            <a:ext cx="435769" cy="1028543"/>
          </a:xfrm>
          <a:prstGeom prst="rect">
            <a:avLst/>
          </a:prstGeom>
        </p:spPr>
        <p:txBody>
          <a:bodyPr anchor="t" rtlCol="false" tIns="0" lIns="0" bIns="0" rIns="0">
            <a:spAutoFit/>
          </a:bodyPr>
          <a:lstStyle/>
          <a:p>
            <a:pPr algn="ctr">
              <a:lnSpc>
                <a:spcPts val="8408"/>
              </a:lnSpc>
              <a:spcBef>
                <a:spcPct val="0"/>
              </a:spcBef>
            </a:pPr>
            <a:r>
              <a:rPr lang="en-US" b="true" sz="6006" u="sng">
                <a:solidFill>
                  <a:srgbClr val="FFFFFF"/>
                </a:solidFill>
                <a:latin typeface="HK Grotesk Medium"/>
                <a:ea typeface="HK Grotesk Medium"/>
                <a:cs typeface="HK Grotesk Medium"/>
                <a:sym typeface="HK Grotesk Medium"/>
              </a:rPr>
              <a:t>7</a:t>
            </a:r>
          </a:p>
        </p:txBody>
      </p:sp>
      <p:sp>
        <p:nvSpPr>
          <p:cNvPr name="TextBox 14" id="14"/>
          <p:cNvSpPr txBox="true"/>
          <p:nvPr/>
        </p:nvSpPr>
        <p:spPr>
          <a:xfrm rot="0">
            <a:off x="16507160" y="7856448"/>
            <a:ext cx="1188125" cy="1028543"/>
          </a:xfrm>
          <a:prstGeom prst="rect">
            <a:avLst/>
          </a:prstGeom>
        </p:spPr>
        <p:txBody>
          <a:bodyPr anchor="t" rtlCol="false" tIns="0" lIns="0" bIns="0" rIns="0">
            <a:spAutoFit/>
          </a:bodyPr>
          <a:lstStyle/>
          <a:p>
            <a:pPr algn="ctr">
              <a:lnSpc>
                <a:spcPts val="8408"/>
              </a:lnSpc>
              <a:spcBef>
                <a:spcPct val="0"/>
              </a:spcBef>
            </a:pPr>
            <a:r>
              <a:rPr lang="en-US" b="true" sz="6006" u="sng">
                <a:solidFill>
                  <a:srgbClr val="FFFFFF"/>
                </a:solidFill>
                <a:latin typeface="HK Grotesk Medium"/>
                <a:ea typeface="HK Grotesk Medium"/>
                <a:cs typeface="HK Grotesk Medium"/>
                <a:sym typeface="HK Grotesk Medium"/>
              </a:rPr>
              <a:t>8-9</a:t>
            </a:r>
          </a:p>
        </p:txBody>
      </p:sp>
    </p:spTree>
  </p:cSld>
  <p:clrMapOvr>
    <a:masterClrMapping/>
  </p:clrMapOvr>
</p:sld>
</file>

<file path=ppt/slides/slide3.xml><?xml version="1.0" encoding="utf-8"?>
<p:sld xmlns:p="http://schemas.openxmlformats.org/presentationml/2006/main" xmlns:a="http://schemas.openxmlformats.org/drawingml/2006/main">
  <p:cSld>
    <p:bg>
      <p:bgPr>
        <a:solidFill>
          <a:srgbClr val="12229D"/>
        </a:solidFill>
      </p:bgPr>
    </p:bg>
    <p:spTree>
      <p:nvGrpSpPr>
        <p:cNvPr id="1" name=""/>
        <p:cNvGrpSpPr/>
        <p:nvPr/>
      </p:nvGrpSpPr>
      <p:grpSpPr>
        <a:xfrm>
          <a:off x="0" y="0"/>
          <a:ext cx="0" cy="0"/>
          <a:chOff x="0" y="0"/>
          <a:chExt cx="0" cy="0"/>
        </a:xfrm>
      </p:grpSpPr>
      <p:grpSp>
        <p:nvGrpSpPr>
          <p:cNvPr name="Group 2" id="2"/>
          <p:cNvGrpSpPr/>
          <p:nvPr/>
        </p:nvGrpSpPr>
        <p:grpSpPr>
          <a:xfrm rot="2795656">
            <a:off x="-3152448" y="7903869"/>
            <a:ext cx="7814671" cy="2708862"/>
            <a:chOff x="0" y="0"/>
            <a:chExt cx="2058185" cy="713445"/>
          </a:xfrm>
        </p:grpSpPr>
        <p:sp>
          <p:nvSpPr>
            <p:cNvPr name="Freeform 3" id="3"/>
            <p:cNvSpPr/>
            <p:nvPr/>
          </p:nvSpPr>
          <p:spPr>
            <a:xfrm flipH="false" flipV="false" rot="0">
              <a:off x="0" y="0"/>
              <a:ext cx="2058185" cy="713445"/>
            </a:xfrm>
            <a:custGeom>
              <a:avLst/>
              <a:gdLst/>
              <a:ahLst/>
              <a:cxnLst/>
              <a:rect r="r" b="b" t="t" l="l"/>
              <a:pathLst>
                <a:path h="713445" w="2058185">
                  <a:moveTo>
                    <a:pt x="0" y="0"/>
                  </a:moveTo>
                  <a:lnTo>
                    <a:pt x="2058185" y="0"/>
                  </a:lnTo>
                  <a:lnTo>
                    <a:pt x="2058185" y="713445"/>
                  </a:lnTo>
                  <a:lnTo>
                    <a:pt x="0" y="713445"/>
                  </a:lnTo>
                  <a:close/>
                </a:path>
              </a:pathLst>
            </a:custGeom>
            <a:solidFill>
              <a:srgbClr val="C8D1D9"/>
            </a:solidFill>
          </p:spPr>
        </p:sp>
        <p:sp>
          <p:nvSpPr>
            <p:cNvPr name="TextBox 4" id="4"/>
            <p:cNvSpPr txBox="true"/>
            <p:nvPr/>
          </p:nvSpPr>
          <p:spPr>
            <a:xfrm>
              <a:off x="0" y="-38100"/>
              <a:ext cx="2058185" cy="751545"/>
            </a:xfrm>
            <a:prstGeom prst="rect">
              <a:avLst/>
            </a:prstGeom>
          </p:spPr>
          <p:txBody>
            <a:bodyPr anchor="ctr" rtlCol="false" tIns="50800" lIns="50800" bIns="50800" rIns="50800"/>
            <a:lstStyle/>
            <a:p>
              <a:pPr algn="ctr">
                <a:lnSpc>
                  <a:spcPts val="2659"/>
                </a:lnSpc>
              </a:pPr>
            </a:p>
          </p:txBody>
        </p:sp>
      </p:grpSp>
      <p:sp>
        <p:nvSpPr>
          <p:cNvPr name="TextBox 5" id="5"/>
          <p:cNvSpPr txBox="true"/>
          <p:nvPr/>
        </p:nvSpPr>
        <p:spPr>
          <a:xfrm rot="0">
            <a:off x="1278134" y="933450"/>
            <a:ext cx="15731733" cy="932589"/>
          </a:xfrm>
          <a:prstGeom prst="rect">
            <a:avLst/>
          </a:prstGeom>
        </p:spPr>
        <p:txBody>
          <a:bodyPr anchor="t" rtlCol="false" tIns="0" lIns="0" bIns="0" rIns="0">
            <a:spAutoFit/>
          </a:bodyPr>
          <a:lstStyle/>
          <a:p>
            <a:pPr algn="l">
              <a:lnSpc>
                <a:spcPts val="7730"/>
              </a:lnSpc>
            </a:pPr>
            <a:r>
              <a:rPr lang="en-US" sz="5521" b="true">
                <a:solidFill>
                  <a:srgbClr val="FFFFFF"/>
                </a:solidFill>
                <a:latin typeface="Open Sans Bold"/>
                <a:ea typeface="Open Sans Bold"/>
                <a:cs typeface="Open Sans Bold"/>
                <a:sym typeface="Open Sans Bold"/>
              </a:rPr>
              <a:t>1. EXPLICACIÓN DE LOS CONCEPTOS BÁSICOS</a:t>
            </a:r>
          </a:p>
        </p:txBody>
      </p:sp>
      <p:sp>
        <p:nvSpPr>
          <p:cNvPr name="TextBox 6" id="6"/>
          <p:cNvSpPr txBox="true"/>
          <p:nvPr/>
        </p:nvSpPr>
        <p:spPr>
          <a:xfrm rot="0">
            <a:off x="1028700" y="2462129"/>
            <a:ext cx="16230600" cy="1402022"/>
          </a:xfrm>
          <a:prstGeom prst="rect">
            <a:avLst/>
          </a:prstGeom>
        </p:spPr>
        <p:txBody>
          <a:bodyPr anchor="t" rtlCol="false" tIns="0" lIns="0" bIns="0" rIns="0">
            <a:spAutoFit/>
          </a:bodyPr>
          <a:lstStyle/>
          <a:p>
            <a:pPr algn="l" marL="874887" indent="-437444" lvl="1">
              <a:lnSpc>
                <a:spcPts val="5673"/>
              </a:lnSpc>
              <a:buFont typeface="Arial"/>
              <a:buChar char="•"/>
            </a:pPr>
            <a:r>
              <a:rPr lang="en-US" b="true" sz="4052" u="sng">
                <a:solidFill>
                  <a:srgbClr val="FFFFFF"/>
                </a:solidFill>
                <a:latin typeface="Open Sans Bold"/>
                <a:ea typeface="Open Sans Bold"/>
                <a:cs typeface="Open Sans Bold"/>
                <a:sym typeface="Open Sans Bold"/>
              </a:rPr>
              <a:t>Código fuente</a:t>
            </a:r>
            <a:r>
              <a:rPr lang="en-US" b="true" sz="4052">
                <a:solidFill>
                  <a:srgbClr val="FFFFFF"/>
                </a:solidFill>
                <a:latin typeface="Open Sans Bold"/>
                <a:ea typeface="Open Sans Bold"/>
                <a:cs typeface="Open Sans Bold"/>
                <a:sym typeface="Open Sans Bold"/>
              </a:rPr>
              <a:t>: es el código que escribimos en el lenguaje de programación que usamos para nuestro programa.</a:t>
            </a:r>
          </a:p>
        </p:txBody>
      </p:sp>
      <p:sp>
        <p:nvSpPr>
          <p:cNvPr name="TextBox 7" id="7"/>
          <p:cNvSpPr txBox="true"/>
          <p:nvPr/>
        </p:nvSpPr>
        <p:spPr>
          <a:xfrm rot="0">
            <a:off x="1028700" y="4589510"/>
            <a:ext cx="15981166" cy="1402022"/>
          </a:xfrm>
          <a:prstGeom prst="rect">
            <a:avLst/>
          </a:prstGeom>
        </p:spPr>
        <p:txBody>
          <a:bodyPr anchor="t" rtlCol="false" tIns="0" lIns="0" bIns="0" rIns="0">
            <a:spAutoFit/>
          </a:bodyPr>
          <a:lstStyle/>
          <a:p>
            <a:pPr algn="l" marL="874887" indent="-437444" lvl="1">
              <a:lnSpc>
                <a:spcPts val="5673"/>
              </a:lnSpc>
              <a:buFont typeface="Arial"/>
              <a:buChar char="•"/>
            </a:pPr>
            <a:r>
              <a:rPr lang="en-US" b="true" sz="4052" u="sng">
                <a:solidFill>
                  <a:srgbClr val="FFFFFF"/>
                </a:solidFill>
                <a:latin typeface="Open Sans Bold"/>
                <a:ea typeface="Open Sans Bold"/>
                <a:cs typeface="Open Sans Bold"/>
                <a:sym typeface="Open Sans Bold"/>
              </a:rPr>
              <a:t>Código objeto</a:t>
            </a:r>
            <a:r>
              <a:rPr lang="en-US" b="true" sz="4052">
                <a:solidFill>
                  <a:srgbClr val="FFFFFF"/>
                </a:solidFill>
                <a:latin typeface="Open Sans Bold"/>
                <a:ea typeface="Open Sans Bold"/>
                <a:cs typeface="Open Sans Bold"/>
                <a:sym typeface="Open Sans Bold"/>
              </a:rPr>
              <a:t>: cuando se completa el proceso de compilación, el resultado se refleja en este código.</a:t>
            </a:r>
          </a:p>
        </p:txBody>
      </p:sp>
      <p:sp>
        <p:nvSpPr>
          <p:cNvPr name="TextBox 8" id="8"/>
          <p:cNvSpPr txBox="true"/>
          <p:nvPr/>
        </p:nvSpPr>
        <p:spPr>
          <a:xfrm rot="0">
            <a:off x="1028700" y="6716891"/>
            <a:ext cx="15981166" cy="1402022"/>
          </a:xfrm>
          <a:prstGeom prst="rect">
            <a:avLst/>
          </a:prstGeom>
        </p:spPr>
        <p:txBody>
          <a:bodyPr anchor="t" rtlCol="false" tIns="0" lIns="0" bIns="0" rIns="0">
            <a:spAutoFit/>
          </a:bodyPr>
          <a:lstStyle/>
          <a:p>
            <a:pPr algn="l" marL="874887" indent="-437444" lvl="1">
              <a:lnSpc>
                <a:spcPts val="5673"/>
              </a:lnSpc>
              <a:buFont typeface="Arial"/>
              <a:buChar char="•"/>
            </a:pPr>
            <a:r>
              <a:rPr lang="en-US" b="true" sz="4052" u="sng">
                <a:solidFill>
                  <a:srgbClr val="FFFFFF"/>
                </a:solidFill>
                <a:latin typeface="Open Sans Bold"/>
                <a:ea typeface="Open Sans Bold"/>
                <a:cs typeface="Open Sans Bold"/>
                <a:sym typeface="Open Sans Bold"/>
              </a:rPr>
              <a:t>Código ejecutable</a:t>
            </a:r>
            <a:r>
              <a:rPr lang="en-US" b="true" sz="4052">
                <a:solidFill>
                  <a:srgbClr val="FFFFFF"/>
                </a:solidFill>
                <a:latin typeface="Open Sans Bold"/>
                <a:ea typeface="Open Sans Bold"/>
                <a:cs typeface="Open Sans Bold"/>
                <a:sym typeface="Open Sans Bold"/>
              </a:rPr>
              <a:t>: al enlazar el código objeto con las librerías necesarias, lo que sale es el código ejecutable.</a:t>
            </a:r>
          </a:p>
        </p:txBody>
      </p:sp>
    </p:spTree>
  </p:cSld>
  <p:clrMapOvr>
    <a:masterClrMapping/>
  </p:clrMapOvr>
</p:sld>
</file>

<file path=ppt/slides/slide4.xml><?xml version="1.0" encoding="utf-8"?>
<p:sld xmlns:p="http://schemas.openxmlformats.org/presentationml/2006/main" xmlns:a="http://schemas.openxmlformats.org/drawingml/2006/main">
  <p:cSld>
    <p:bg>
      <p:bgPr>
        <a:solidFill>
          <a:srgbClr val="12229D"/>
        </a:solidFill>
      </p:bgPr>
    </p:bg>
    <p:spTree>
      <p:nvGrpSpPr>
        <p:cNvPr id="1" name=""/>
        <p:cNvGrpSpPr/>
        <p:nvPr/>
      </p:nvGrpSpPr>
      <p:grpSpPr>
        <a:xfrm>
          <a:off x="0" y="0"/>
          <a:ext cx="0" cy="0"/>
          <a:chOff x="0" y="0"/>
          <a:chExt cx="0" cy="0"/>
        </a:xfrm>
      </p:grpSpPr>
      <p:grpSp>
        <p:nvGrpSpPr>
          <p:cNvPr name="Group 2" id="2"/>
          <p:cNvGrpSpPr/>
          <p:nvPr/>
        </p:nvGrpSpPr>
        <p:grpSpPr>
          <a:xfrm rot="2795656">
            <a:off x="-3605348" y="8955634"/>
            <a:ext cx="7814671" cy="1462075"/>
            <a:chOff x="0" y="0"/>
            <a:chExt cx="2058185" cy="385073"/>
          </a:xfrm>
        </p:grpSpPr>
        <p:sp>
          <p:nvSpPr>
            <p:cNvPr name="Freeform 3" id="3"/>
            <p:cNvSpPr/>
            <p:nvPr/>
          </p:nvSpPr>
          <p:spPr>
            <a:xfrm flipH="false" flipV="false" rot="0">
              <a:off x="0" y="0"/>
              <a:ext cx="2058185" cy="385073"/>
            </a:xfrm>
            <a:custGeom>
              <a:avLst/>
              <a:gdLst/>
              <a:ahLst/>
              <a:cxnLst/>
              <a:rect r="r" b="b" t="t" l="l"/>
              <a:pathLst>
                <a:path h="385073" w="2058185">
                  <a:moveTo>
                    <a:pt x="0" y="0"/>
                  </a:moveTo>
                  <a:lnTo>
                    <a:pt x="2058185" y="0"/>
                  </a:lnTo>
                  <a:lnTo>
                    <a:pt x="2058185" y="385073"/>
                  </a:lnTo>
                  <a:lnTo>
                    <a:pt x="0" y="385073"/>
                  </a:lnTo>
                  <a:close/>
                </a:path>
              </a:pathLst>
            </a:custGeom>
            <a:solidFill>
              <a:srgbClr val="C8D1D9"/>
            </a:solidFill>
          </p:spPr>
        </p:sp>
        <p:sp>
          <p:nvSpPr>
            <p:cNvPr name="TextBox 4" id="4"/>
            <p:cNvSpPr txBox="true"/>
            <p:nvPr/>
          </p:nvSpPr>
          <p:spPr>
            <a:xfrm>
              <a:off x="0" y="-38100"/>
              <a:ext cx="2058185" cy="423173"/>
            </a:xfrm>
            <a:prstGeom prst="rect">
              <a:avLst/>
            </a:prstGeom>
          </p:spPr>
          <p:txBody>
            <a:bodyPr anchor="ctr" rtlCol="false" tIns="50800" lIns="50800" bIns="50800" rIns="50800"/>
            <a:lstStyle/>
            <a:p>
              <a:pPr algn="ctr">
                <a:lnSpc>
                  <a:spcPts val="2659"/>
                </a:lnSpc>
              </a:pPr>
            </a:p>
          </p:txBody>
        </p:sp>
      </p:grpSp>
      <p:sp>
        <p:nvSpPr>
          <p:cNvPr name="TextBox 5" id="5"/>
          <p:cNvSpPr txBox="true"/>
          <p:nvPr/>
        </p:nvSpPr>
        <p:spPr>
          <a:xfrm rot="0">
            <a:off x="3248323" y="933450"/>
            <a:ext cx="11791355" cy="887095"/>
          </a:xfrm>
          <a:prstGeom prst="rect">
            <a:avLst/>
          </a:prstGeom>
        </p:spPr>
        <p:txBody>
          <a:bodyPr anchor="t" rtlCol="false" tIns="0" lIns="0" bIns="0" rIns="0">
            <a:spAutoFit/>
          </a:bodyPr>
          <a:lstStyle/>
          <a:p>
            <a:pPr algn="ctr">
              <a:lnSpc>
                <a:spcPts val="7279"/>
              </a:lnSpc>
            </a:pPr>
            <a:r>
              <a:rPr lang="en-US" sz="5199" b="true">
                <a:solidFill>
                  <a:srgbClr val="FFFFFF"/>
                </a:solidFill>
                <a:latin typeface="Open Sans Bold"/>
                <a:ea typeface="Open Sans Bold"/>
                <a:cs typeface="Open Sans Bold"/>
                <a:sym typeface="Open Sans Bold"/>
              </a:rPr>
              <a:t>Fases por las que pasa un programa</a:t>
            </a:r>
          </a:p>
        </p:txBody>
      </p:sp>
      <p:sp>
        <p:nvSpPr>
          <p:cNvPr name="TextBox 6" id="6"/>
          <p:cNvSpPr txBox="true"/>
          <p:nvPr/>
        </p:nvSpPr>
        <p:spPr>
          <a:xfrm rot="0">
            <a:off x="1028700" y="2420332"/>
            <a:ext cx="16230600" cy="914019"/>
          </a:xfrm>
          <a:prstGeom prst="rect">
            <a:avLst/>
          </a:prstGeom>
        </p:spPr>
        <p:txBody>
          <a:bodyPr anchor="t" rtlCol="false" tIns="0" lIns="0" bIns="0" rIns="0">
            <a:spAutoFit/>
          </a:bodyPr>
          <a:lstStyle/>
          <a:p>
            <a:pPr algn="l">
              <a:lnSpc>
                <a:spcPts val="3696"/>
              </a:lnSpc>
            </a:pPr>
            <a:r>
              <a:rPr lang="en-US" sz="2640" b="true">
                <a:solidFill>
                  <a:srgbClr val="FFFFFF"/>
                </a:solidFill>
                <a:latin typeface="Open Sans Bold"/>
                <a:ea typeface="Open Sans Bold"/>
                <a:cs typeface="Open Sans Bold"/>
                <a:sym typeface="Open Sans Bold"/>
              </a:rPr>
              <a:t>1. </a:t>
            </a:r>
            <a:r>
              <a:rPr lang="en-US" sz="2640" u="sng" b="true">
                <a:solidFill>
                  <a:srgbClr val="FFFFFF"/>
                </a:solidFill>
                <a:latin typeface="Open Sans Bold"/>
                <a:ea typeface="Open Sans Bold"/>
                <a:cs typeface="Open Sans Bold"/>
                <a:sym typeface="Open Sans Bold"/>
              </a:rPr>
              <a:t>Análisis léxico</a:t>
            </a:r>
            <a:r>
              <a:rPr lang="en-US" sz="2640" b="true">
                <a:solidFill>
                  <a:srgbClr val="FFFFFF"/>
                </a:solidFill>
                <a:latin typeface="Open Sans Bold"/>
                <a:ea typeface="Open Sans Bold"/>
                <a:cs typeface="Open Sans Bold"/>
                <a:sym typeface="Open Sans Bold"/>
              </a:rPr>
              <a:t>: </a:t>
            </a:r>
            <a:r>
              <a:rPr lang="en-US" sz="2640">
                <a:solidFill>
                  <a:srgbClr val="FFFFFF"/>
                </a:solidFill>
                <a:latin typeface="Open Sans"/>
                <a:ea typeface="Open Sans"/>
                <a:cs typeface="Open Sans"/>
                <a:sym typeface="Open Sans"/>
              </a:rPr>
              <a:t>se trata de comprobar si los elementos del código son del lenguaje de programación correspondiente.</a:t>
            </a:r>
          </a:p>
        </p:txBody>
      </p:sp>
      <p:sp>
        <p:nvSpPr>
          <p:cNvPr name="TextBox 7" id="7"/>
          <p:cNvSpPr txBox="true"/>
          <p:nvPr/>
        </p:nvSpPr>
        <p:spPr>
          <a:xfrm rot="0">
            <a:off x="1028700" y="3689715"/>
            <a:ext cx="16230600" cy="447294"/>
          </a:xfrm>
          <a:prstGeom prst="rect">
            <a:avLst/>
          </a:prstGeom>
        </p:spPr>
        <p:txBody>
          <a:bodyPr anchor="t" rtlCol="false" tIns="0" lIns="0" bIns="0" rIns="0">
            <a:spAutoFit/>
          </a:bodyPr>
          <a:lstStyle/>
          <a:p>
            <a:pPr algn="l">
              <a:lnSpc>
                <a:spcPts val="3696"/>
              </a:lnSpc>
            </a:pPr>
            <a:r>
              <a:rPr lang="en-US" sz="2640" b="true">
                <a:solidFill>
                  <a:srgbClr val="FFFFFF"/>
                </a:solidFill>
                <a:latin typeface="Open Sans Bold"/>
                <a:ea typeface="Open Sans Bold"/>
                <a:cs typeface="Open Sans Bold"/>
                <a:sym typeface="Open Sans Bold"/>
              </a:rPr>
              <a:t>2. </a:t>
            </a:r>
            <a:r>
              <a:rPr lang="en-US" sz="2640" u="sng" b="true">
                <a:solidFill>
                  <a:srgbClr val="FFFFFF"/>
                </a:solidFill>
                <a:latin typeface="Open Sans Bold"/>
                <a:ea typeface="Open Sans Bold"/>
                <a:cs typeface="Open Sans Bold"/>
                <a:sym typeface="Open Sans Bold"/>
              </a:rPr>
              <a:t>Análisis sintáctico</a:t>
            </a:r>
            <a:r>
              <a:rPr lang="en-US" sz="2640" b="true">
                <a:solidFill>
                  <a:srgbClr val="FFFFFF"/>
                </a:solidFill>
                <a:latin typeface="Open Sans Bold"/>
                <a:ea typeface="Open Sans Bold"/>
                <a:cs typeface="Open Sans Bold"/>
                <a:sym typeface="Open Sans Bold"/>
              </a:rPr>
              <a:t>: </a:t>
            </a:r>
            <a:r>
              <a:rPr lang="en-US" sz="2640">
                <a:solidFill>
                  <a:srgbClr val="FFFFFF"/>
                </a:solidFill>
                <a:latin typeface="Open Sans"/>
                <a:ea typeface="Open Sans"/>
                <a:cs typeface="Open Sans"/>
                <a:sym typeface="Open Sans"/>
              </a:rPr>
              <a:t>se debe analizar si el orden de los elementos en el código está bien.</a:t>
            </a:r>
          </a:p>
        </p:txBody>
      </p:sp>
      <p:sp>
        <p:nvSpPr>
          <p:cNvPr name="TextBox 8" id="8"/>
          <p:cNvSpPr txBox="true"/>
          <p:nvPr/>
        </p:nvSpPr>
        <p:spPr>
          <a:xfrm rot="0">
            <a:off x="1028700" y="4489434"/>
            <a:ext cx="16230600" cy="914019"/>
          </a:xfrm>
          <a:prstGeom prst="rect">
            <a:avLst/>
          </a:prstGeom>
        </p:spPr>
        <p:txBody>
          <a:bodyPr anchor="t" rtlCol="false" tIns="0" lIns="0" bIns="0" rIns="0">
            <a:spAutoFit/>
          </a:bodyPr>
          <a:lstStyle/>
          <a:p>
            <a:pPr algn="l">
              <a:lnSpc>
                <a:spcPts val="3696"/>
              </a:lnSpc>
            </a:pPr>
            <a:r>
              <a:rPr lang="en-US" sz="2640" b="true">
                <a:solidFill>
                  <a:srgbClr val="FFFFFF"/>
                </a:solidFill>
                <a:latin typeface="Open Sans Bold"/>
                <a:ea typeface="Open Sans Bold"/>
                <a:cs typeface="Open Sans Bold"/>
                <a:sym typeface="Open Sans Bold"/>
              </a:rPr>
              <a:t>3. </a:t>
            </a:r>
            <a:r>
              <a:rPr lang="en-US" sz="2640" u="sng" b="true">
                <a:solidFill>
                  <a:srgbClr val="FFFFFF"/>
                </a:solidFill>
                <a:latin typeface="Open Sans Bold"/>
                <a:ea typeface="Open Sans Bold"/>
                <a:cs typeface="Open Sans Bold"/>
                <a:sym typeface="Open Sans Bold"/>
              </a:rPr>
              <a:t>Análisis semántico</a:t>
            </a:r>
            <a:r>
              <a:rPr lang="en-US" sz="2640" b="true">
                <a:solidFill>
                  <a:srgbClr val="FFFFFF"/>
                </a:solidFill>
                <a:latin typeface="Open Sans Bold"/>
                <a:ea typeface="Open Sans Bold"/>
                <a:cs typeface="Open Sans Bold"/>
                <a:sym typeface="Open Sans Bold"/>
              </a:rPr>
              <a:t>: </a:t>
            </a:r>
            <a:r>
              <a:rPr lang="en-US" sz="2640">
                <a:solidFill>
                  <a:srgbClr val="FFFFFF"/>
                </a:solidFill>
                <a:latin typeface="Open Sans"/>
                <a:ea typeface="Open Sans"/>
                <a:cs typeface="Open Sans"/>
                <a:sym typeface="Open Sans"/>
              </a:rPr>
              <a:t>en esta fase hay que determinar que las sentencias que ha escrito el programador tengan sentido.</a:t>
            </a:r>
          </a:p>
        </p:txBody>
      </p:sp>
      <p:sp>
        <p:nvSpPr>
          <p:cNvPr name="TextBox 9" id="9"/>
          <p:cNvSpPr txBox="true"/>
          <p:nvPr/>
        </p:nvSpPr>
        <p:spPr>
          <a:xfrm rot="0">
            <a:off x="1028700" y="5755878"/>
            <a:ext cx="16230600" cy="914019"/>
          </a:xfrm>
          <a:prstGeom prst="rect">
            <a:avLst/>
          </a:prstGeom>
        </p:spPr>
        <p:txBody>
          <a:bodyPr anchor="t" rtlCol="false" tIns="0" lIns="0" bIns="0" rIns="0">
            <a:spAutoFit/>
          </a:bodyPr>
          <a:lstStyle/>
          <a:p>
            <a:pPr algn="l">
              <a:lnSpc>
                <a:spcPts val="3696"/>
              </a:lnSpc>
            </a:pPr>
            <a:r>
              <a:rPr lang="en-US" sz="2640" b="true">
                <a:solidFill>
                  <a:srgbClr val="FFFFFF"/>
                </a:solidFill>
                <a:latin typeface="Open Sans Bold"/>
                <a:ea typeface="Open Sans Bold"/>
                <a:cs typeface="Open Sans Bold"/>
                <a:sym typeface="Open Sans Bold"/>
              </a:rPr>
              <a:t>4. </a:t>
            </a:r>
            <a:r>
              <a:rPr lang="en-US" sz="2640" u="sng" b="true">
                <a:solidFill>
                  <a:srgbClr val="FFFFFF"/>
                </a:solidFill>
                <a:latin typeface="Open Sans Bold"/>
                <a:ea typeface="Open Sans Bold"/>
                <a:cs typeface="Open Sans Bold"/>
                <a:sym typeface="Open Sans Bold"/>
              </a:rPr>
              <a:t>Generación de código intermedio</a:t>
            </a:r>
            <a:r>
              <a:rPr lang="en-US" sz="2640" b="true">
                <a:solidFill>
                  <a:srgbClr val="FFFFFF"/>
                </a:solidFill>
                <a:latin typeface="Open Sans Bold"/>
                <a:ea typeface="Open Sans Bold"/>
                <a:cs typeface="Open Sans Bold"/>
                <a:sym typeface="Open Sans Bold"/>
              </a:rPr>
              <a:t>: </a:t>
            </a:r>
            <a:r>
              <a:rPr lang="en-US" sz="2640">
                <a:solidFill>
                  <a:srgbClr val="FFFFFF"/>
                </a:solidFill>
                <a:latin typeface="Open Sans"/>
                <a:ea typeface="Open Sans"/>
                <a:cs typeface="Open Sans"/>
                <a:sym typeface="Open Sans"/>
              </a:rPr>
              <a:t>si no hay ningún error previo, se genera una representación intermedia (fase opcional).</a:t>
            </a:r>
          </a:p>
        </p:txBody>
      </p:sp>
      <p:sp>
        <p:nvSpPr>
          <p:cNvPr name="TextBox 10" id="10"/>
          <p:cNvSpPr txBox="true"/>
          <p:nvPr/>
        </p:nvSpPr>
        <p:spPr>
          <a:xfrm rot="0">
            <a:off x="1028700" y="7022322"/>
            <a:ext cx="16230600" cy="914019"/>
          </a:xfrm>
          <a:prstGeom prst="rect">
            <a:avLst/>
          </a:prstGeom>
        </p:spPr>
        <p:txBody>
          <a:bodyPr anchor="t" rtlCol="false" tIns="0" lIns="0" bIns="0" rIns="0">
            <a:spAutoFit/>
          </a:bodyPr>
          <a:lstStyle/>
          <a:p>
            <a:pPr algn="l">
              <a:lnSpc>
                <a:spcPts val="3696"/>
              </a:lnSpc>
            </a:pPr>
            <a:r>
              <a:rPr lang="en-US" sz="2640" b="true">
                <a:solidFill>
                  <a:srgbClr val="FFFFFF"/>
                </a:solidFill>
                <a:latin typeface="Open Sans Bold"/>
                <a:ea typeface="Open Sans Bold"/>
                <a:cs typeface="Open Sans Bold"/>
                <a:sym typeface="Open Sans Bold"/>
              </a:rPr>
              <a:t>5. </a:t>
            </a:r>
            <a:r>
              <a:rPr lang="en-US" sz="2640" u="sng" b="true">
                <a:solidFill>
                  <a:srgbClr val="FFFFFF"/>
                </a:solidFill>
                <a:latin typeface="Open Sans Bold"/>
                <a:ea typeface="Open Sans Bold"/>
                <a:cs typeface="Open Sans Bold"/>
                <a:sym typeface="Open Sans Bold"/>
              </a:rPr>
              <a:t>Optimización de código intermedio</a:t>
            </a:r>
            <a:r>
              <a:rPr lang="en-US" sz="2640" b="true">
                <a:solidFill>
                  <a:srgbClr val="FFFFFF"/>
                </a:solidFill>
                <a:latin typeface="Open Sans Bold"/>
                <a:ea typeface="Open Sans Bold"/>
                <a:cs typeface="Open Sans Bold"/>
                <a:sym typeface="Open Sans Bold"/>
              </a:rPr>
              <a:t>: </a:t>
            </a:r>
            <a:r>
              <a:rPr lang="en-US" sz="2640">
                <a:solidFill>
                  <a:srgbClr val="FFFFFF"/>
                </a:solidFill>
                <a:latin typeface="Open Sans"/>
                <a:ea typeface="Open Sans"/>
                <a:cs typeface="Open Sans"/>
                <a:sym typeface="Open Sans"/>
              </a:rPr>
              <a:t>al igual que la fase anterior, esta también es opcional. Es mejorar el código intermedio.</a:t>
            </a:r>
          </a:p>
        </p:txBody>
      </p:sp>
      <p:sp>
        <p:nvSpPr>
          <p:cNvPr name="TextBox 11" id="11"/>
          <p:cNvSpPr txBox="true"/>
          <p:nvPr/>
        </p:nvSpPr>
        <p:spPr>
          <a:xfrm rot="0">
            <a:off x="1028700" y="8288766"/>
            <a:ext cx="16230600" cy="914019"/>
          </a:xfrm>
          <a:prstGeom prst="rect">
            <a:avLst/>
          </a:prstGeom>
        </p:spPr>
        <p:txBody>
          <a:bodyPr anchor="t" rtlCol="false" tIns="0" lIns="0" bIns="0" rIns="0">
            <a:spAutoFit/>
          </a:bodyPr>
          <a:lstStyle/>
          <a:p>
            <a:pPr algn="l">
              <a:lnSpc>
                <a:spcPts val="3696"/>
              </a:lnSpc>
            </a:pPr>
            <a:r>
              <a:rPr lang="en-US" sz="2640" b="true">
                <a:solidFill>
                  <a:srgbClr val="FFFFFF"/>
                </a:solidFill>
                <a:latin typeface="Open Sans Bold"/>
                <a:ea typeface="Open Sans Bold"/>
                <a:cs typeface="Open Sans Bold"/>
                <a:sym typeface="Open Sans Bold"/>
              </a:rPr>
              <a:t>6. </a:t>
            </a:r>
            <a:r>
              <a:rPr lang="en-US" sz="2640" u="sng" b="true">
                <a:solidFill>
                  <a:srgbClr val="FFFFFF"/>
                </a:solidFill>
                <a:latin typeface="Open Sans Bold"/>
                <a:ea typeface="Open Sans Bold"/>
                <a:cs typeface="Open Sans Bold"/>
                <a:sym typeface="Open Sans Bold"/>
              </a:rPr>
              <a:t>Generación de código final:</a:t>
            </a:r>
            <a:r>
              <a:rPr lang="en-US" sz="2640" b="true">
                <a:solidFill>
                  <a:srgbClr val="FFFFFF"/>
                </a:solidFill>
                <a:latin typeface="Open Sans Bold"/>
                <a:ea typeface="Open Sans Bold"/>
                <a:cs typeface="Open Sans Bold"/>
                <a:sym typeface="Open Sans Bold"/>
              </a:rPr>
              <a:t> </a:t>
            </a:r>
            <a:r>
              <a:rPr lang="en-US" sz="2640">
                <a:solidFill>
                  <a:srgbClr val="FFFFFF"/>
                </a:solidFill>
                <a:latin typeface="Open Sans"/>
                <a:ea typeface="Open Sans"/>
                <a:cs typeface="Open Sans"/>
                <a:sym typeface="Open Sans"/>
              </a:rPr>
              <a:t>aquí podremos generar código objeto para que reciba las instrucciones de la CPU.</a:t>
            </a:r>
          </a:p>
        </p:txBody>
      </p:sp>
    </p:spTree>
  </p:cSld>
  <p:clrMapOvr>
    <a:masterClrMapping/>
  </p:clrMapOvr>
</p:sld>
</file>

<file path=ppt/slides/slide5.xml><?xml version="1.0" encoding="utf-8"?>
<p:sld xmlns:p="http://schemas.openxmlformats.org/presentationml/2006/main" xmlns:a="http://schemas.openxmlformats.org/drawingml/2006/main">
  <p:cSld>
    <p:bg>
      <p:bgPr>
        <a:solidFill>
          <a:srgbClr val="12229D"/>
        </a:solidFill>
      </p:bgPr>
    </p:bg>
    <p:spTree>
      <p:nvGrpSpPr>
        <p:cNvPr id="1" name=""/>
        <p:cNvGrpSpPr/>
        <p:nvPr/>
      </p:nvGrpSpPr>
      <p:grpSpPr>
        <a:xfrm>
          <a:off x="0" y="0"/>
          <a:ext cx="0" cy="0"/>
          <a:chOff x="0" y="0"/>
          <a:chExt cx="0" cy="0"/>
        </a:xfrm>
      </p:grpSpPr>
      <p:sp>
        <p:nvSpPr>
          <p:cNvPr name="TextBox 2" id="2"/>
          <p:cNvSpPr txBox="true"/>
          <p:nvPr/>
        </p:nvSpPr>
        <p:spPr>
          <a:xfrm rot="0">
            <a:off x="3149977" y="933450"/>
            <a:ext cx="11988046" cy="887095"/>
          </a:xfrm>
          <a:prstGeom prst="rect">
            <a:avLst/>
          </a:prstGeom>
        </p:spPr>
        <p:txBody>
          <a:bodyPr anchor="t" rtlCol="false" tIns="0" lIns="0" bIns="0" rIns="0">
            <a:spAutoFit/>
          </a:bodyPr>
          <a:lstStyle/>
          <a:p>
            <a:pPr algn="ctr">
              <a:lnSpc>
                <a:spcPts val="7279"/>
              </a:lnSpc>
            </a:pPr>
            <a:r>
              <a:rPr lang="en-US" sz="5199" b="true">
                <a:solidFill>
                  <a:srgbClr val="FFFFFF"/>
                </a:solidFill>
                <a:latin typeface="Open Sans Bold"/>
                <a:ea typeface="Open Sans Bold"/>
                <a:cs typeface="Open Sans Bold"/>
                <a:sym typeface="Open Sans Bold"/>
              </a:rPr>
              <a:t>Ejemplos concretos de los conceptos</a:t>
            </a:r>
          </a:p>
        </p:txBody>
      </p:sp>
      <p:sp>
        <p:nvSpPr>
          <p:cNvPr name="TextBox 3" id="3"/>
          <p:cNvSpPr txBox="true"/>
          <p:nvPr/>
        </p:nvSpPr>
        <p:spPr>
          <a:xfrm rot="0">
            <a:off x="1028700" y="2165389"/>
            <a:ext cx="16230600" cy="687647"/>
          </a:xfrm>
          <a:prstGeom prst="rect">
            <a:avLst/>
          </a:prstGeom>
        </p:spPr>
        <p:txBody>
          <a:bodyPr anchor="t" rtlCol="false" tIns="0" lIns="0" bIns="0" rIns="0">
            <a:spAutoFit/>
          </a:bodyPr>
          <a:lstStyle/>
          <a:p>
            <a:pPr algn="l">
              <a:lnSpc>
                <a:spcPts val="5673"/>
              </a:lnSpc>
            </a:pPr>
            <a:r>
              <a:rPr lang="en-US" sz="4052">
                <a:solidFill>
                  <a:srgbClr val="FFFFFF"/>
                </a:solidFill>
                <a:latin typeface="Open Sans"/>
                <a:ea typeface="Open Sans"/>
                <a:cs typeface="Open Sans"/>
                <a:sym typeface="Open Sans"/>
              </a:rPr>
              <a:t>Para esta línea de código </a:t>
            </a:r>
            <a:r>
              <a:rPr lang="en-US" sz="4052" i="true" b="true">
                <a:solidFill>
                  <a:srgbClr val="FFFFFF"/>
                </a:solidFill>
                <a:latin typeface="Open Sans Bold Italics"/>
                <a:ea typeface="Open Sans Bold Italics"/>
                <a:cs typeface="Open Sans Bold Italics"/>
                <a:sym typeface="Open Sans Bold Italics"/>
              </a:rPr>
              <a:t>int total = “hola”; </a:t>
            </a:r>
            <a:r>
              <a:rPr lang="en-US" sz="4052">
                <a:solidFill>
                  <a:srgbClr val="FFFFFF"/>
                </a:solidFill>
                <a:latin typeface="Open Sans"/>
                <a:ea typeface="Open Sans"/>
                <a:cs typeface="Open Sans"/>
                <a:sym typeface="Open Sans"/>
              </a:rPr>
              <a:t>tenemos lo siguiente:</a:t>
            </a:r>
          </a:p>
        </p:txBody>
      </p:sp>
      <p:sp>
        <p:nvSpPr>
          <p:cNvPr name="TextBox 4" id="4"/>
          <p:cNvSpPr txBox="true"/>
          <p:nvPr/>
        </p:nvSpPr>
        <p:spPr>
          <a:xfrm rot="0">
            <a:off x="1028700" y="3272076"/>
            <a:ext cx="16230600" cy="2116397"/>
          </a:xfrm>
          <a:prstGeom prst="rect">
            <a:avLst/>
          </a:prstGeom>
        </p:spPr>
        <p:txBody>
          <a:bodyPr anchor="t" rtlCol="false" tIns="0" lIns="0" bIns="0" rIns="0">
            <a:spAutoFit/>
          </a:bodyPr>
          <a:lstStyle/>
          <a:p>
            <a:pPr algn="l" marL="874887" indent="-437444" lvl="1">
              <a:lnSpc>
                <a:spcPts val="5673"/>
              </a:lnSpc>
              <a:buFont typeface="Arial"/>
              <a:buChar char="•"/>
            </a:pPr>
            <a:r>
              <a:rPr lang="en-US" b="true" sz="4052" u="sng">
                <a:solidFill>
                  <a:srgbClr val="FFFFFF"/>
                </a:solidFill>
                <a:latin typeface="Open Sans Bold"/>
                <a:ea typeface="Open Sans Bold"/>
                <a:cs typeface="Open Sans Bold"/>
                <a:sym typeface="Open Sans Bold"/>
              </a:rPr>
              <a:t>Código fuente</a:t>
            </a:r>
            <a:r>
              <a:rPr lang="en-US" b="true" sz="4052">
                <a:solidFill>
                  <a:srgbClr val="FFFFFF"/>
                </a:solidFill>
                <a:latin typeface="Open Sans Bold"/>
                <a:ea typeface="Open Sans Bold"/>
                <a:cs typeface="Open Sans Bold"/>
                <a:sym typeface="Open Sans Bold"/>
              </a:rPr>
              <a:t>: </a:t>
            </a:r>
            <a:r>
              <a:rPr lang="en-US" sz="4052">
                <a:solidFill>
                  <a:srgbClr val="FFFFFF"/>
                </a:solidFill>
                <a:latin typeface="Open Sans"/>
                <a:ea typeface="Open Sans"/>
                <a:cs typeface="Open Sans"/>
                <a:sym typeface="Open Sans"/>
              </a:rPr>
              <a:t>el código pasa por el análisis léxico y sintáctico, pero en el semántico da error porque no tiene sentido, lo puedes arreglar poniendo </a:t>
            </a:r>
            <a:r>
              <a:rPr lang="en-US" b="true" sz="4052" i="true">
                <a:solidFill>
                  <a:srgbClr val="FFFFFF"/>
                </a:solidFill>
                <a:latin typeface="Open Sans Bold Italics"/>
                <a:ea typeface="Open Sans Bold Italics"/>
                <a:cs typeface="Open Sans Bold Italics"/>
                <a:sym typeface="Open Sans Bold Italics"/>
              </a:rPr>
              <a:t>int total = 5 + 3</a:t>
            </a:r>
            <a:r>
              <a:rPr lang="en-US" sz="4052">
                <a:solidFill>
                  <a:srgbClr val="FFFFFF"/>
                </a:solidFill>
                <a:latin typeface="Open Sans"/>
                <a:ea typeface="Open Sans"/>
                <a:cs typeface="Open Sans"/>
                <a:sym typeface="Open Sans"/>
              </a:rPr>
              <a:t>.</a:t>
            </a:r>
          </a:p>
        </p:txBody>
      </p:sp>
      <p:sp>
        <p:nvSpPr>
          <p:cNvPr name="TextBox 5" id="5"/>
          <p:cNvSpPr txBox="true"/>
          <p:nvPr/>
        </p:nvSpPr>
        <p:spPr>
          <a:xfrm rot="0">
            <a:off x="1028700" y="5731373"/>
            <a:ext cx="16230600" cy="1402022"/>
          </a:xfrm>
          <a:prstGeom prst="rect">
            <a:avLst/>
          </a:prstGeom>
        </p:spPr>
        <p:txBody>
          <a:bodyPr anchor="t" rtlCol="false" tIns="0" lIns="0" bIns="0" rIns="0">
            <a:spAutoFit/>
          </a:bodyPr>
          <a:lstStyle/>
          <a:p>
            <a:pPr algn="l" marL="874887" indent="-437444" lvl="1">
              <a:lnSpc>
                <a:spcPts val="5673"/>
              </a:lnSpc>
              <a:buFont typeface="Arial"/>
              <a:buChar char="•"/>
            </a:pPr>
            <a:r>
              <a:rPr lang="en-US" b="true" sz="4052" u="sng">
                <a:solidFill>
                  <a:srgbClr val="FFFFFF"/>
                </a:solidFill>
                <a:latin typeface="Open Sans Bold"/>
                <a:ea typeface="Open Sans Bold"/>
                <a:cs typeface="Open Sans Bold"/>
                <a:sym typeface="Open Sans Bold"/>
              </a:rPr>
              <a:t>Código objeto</a:t>
            </a:r>
            <a:r>
              <a:rPr lang="en-US" b="true" sz="4052">
                <a:solidFill>
                  <a:srgbClr val="FFFFFF"/>
                </a:solidFill>
                <a:latin typeface="Open Sans Bold"/>
                <a:ea typeface="Open Sans Bold"/>
                <a:cs typeface="Open Sans Bold"/>
                <a:sym typeface="Open Sans Bold"/>
              </a:rPr>
              <a:t>: </a:t>
            </a:r>
            <a:r>
              <a:rPr lang="en-US" sz="4052">
                <a:solidFill>
                  <a:srgbClr val="FFFFFF"/>
                </a:solidFill>
                <a:latin typeface="Open Sans"/>
                <a:ea typeface="Open Sans"/>
                <a:cs typeface="Open Sans"/>
                <a:sym typeface="Open Sans"/>
              </a:rPr>
              <a:t>este código es compilado y se convierte en un archivo binario intermedio.</a:t>
            </a:r>
          </a:p>
        </p:txBody>
      </p:sp>
      <p:sp>
        <p:nvSpPr>
          <p:cNvPr name="TextBox 6" id="6"/>
          <p:cNvSpPr txBox="true"/>
          <p:nvPr/>
        </p:nvSpPr>
        <p:spPr>
          <a:xfrm rot="0">
            <a:off x="1028700" y="7552495"/>
            <a:ext cx="16230600" cy="1402022"/>
          </a:xfrm>
          <a:prstGeom prst="rect">
            <a:avLst/>
          </a:prstGeom>
        </p:spPr>
        <p:txBody>
          <a:bodyPr anchor="t" rtlCol="false" tIns="0" lIns="0" bIns="0" rIns="0">
            <a:spAutoFit/>
          </a:bodyPr>
          <a:lstStyle/>
          <a:p>
            <a:pPr algn="l" marL="874887" indent="-437444" lvl="1">
              <a:lnSpc>
                <a:spcPts val="5673"/>
              </a:lnSpc>
              <a:buFont typeface="Arial"/>
              <a:buChar char="•"/>
            </a:pPr>
            <a:r>
              <a:rPr lang="en-US" b="true" sz="4052" u="sng">
                <a:solidFill>
                  <a:srgbClr val="FFFFFF"/>
                </a:solidFill>
                <a:latin typeface="Open Sans Bold"/>
                <a:ea typeface="Open Sans Bold"/>
                <a:cs typeface="Open Sans Bold"/>
                <a:sym typeface="Open Sans Bold"/>
              </a:rPr>
              <a:t>Código ejecutable</a:t>
            </a:r>
            <a:r>
              <a:rPr lang="en-US" b="true" sz="4052">
                <a:solidFill>
                  <a:srgbClr val="FFFFFF"/>
                </a:solidFill>
                <a:latin typeface="Open Sans Bold"/>
                <a:ea typeface="Open Sans Bold"/>
                <a:cs typeface="Open Sans Bold"/>
                <a:sym typeface="Open Sans Bold"/>
              </a:rPr>
              <a:t>: </a:t>
            </a:r>
            <a:r>
              <a:rPr lang="en-US" sz="4052">
                <a:solidFill>
                  <a:srgbClr val="FFFFFF"/>
                </a:solidFill>
                <a:latin typeface="Open Sans"/>
                <a:ea typeface="Open Sans"/>
                <a:cs typeface="Open Sans"/>
                <a:sym typeface="Open Sans"/>
              </a:rPr>
              <a:t>este de aquí participa en la última fase, en conjunto con el </a:t>
            </a:r>
            <a:r>
              <a:rPr lang="en-US" sz="4052" i="true">
                <a:solidFill>
                  <a:srgbClr val="FFFFFF"/>
                </a:solidFill>
                <a:latin typeface="Open Sans Italics"/>
                <a:ea typeface="Open Sans Italics"/>
                <a:cs typeface="Open Sans Italics"/>
                <a:sym typeface="Open Sans Italics"/>
              </a:rPr>
              <a:t>enlazador (linker).</a:t>
            </a:r>
            <a:r>
              <a:rPr lang="en-US" sz="4052">
                <a:solidFill>
                  <a:srgbClr val="FFFFFF"/>
                </a:solidFill>
                <a:latin typeface="Open Sans"/>
                <a:ea typeface="Open Sans"/>
                <a:cs typeface="Open Sans"/>
                <a:sym typeface="Open Sans"/>
              </a:rPr>
              <a:t> </a:t>
            </a:r>
          </a:p>
        </p:txBody>
      </p:sp>
    </p:spTree>
  </p:cSld>
  <p:clrMapOvr>
    <a:masterClrMapping/>
  </p:clrMapOvr>
</p:sld>
</file>

<file path=ppt/slides/slide6.xml><?xml version="1.0" encoding="utf-8"?>
<p:sld xmlns:p="http://schemas.openxmlformats.org/presentationml/2006/main" xmlns:a="http://schemas.openxmlformats.org/drawingml/2006/main">
  <p:cSld>
    <p:bg>
      <p:bgPr>
        <a:solidFill>
          <a:srgbClr val="12229D"/>
        </a:solidFill>
      </p:bgPr>
    </p:bg>
    <p:spTree>
      <p:nvGrpSpPr>
        <p:cNvPr id="1" name=""/>
        <p:cNvGrpSpPr/>
        <p:nvPr/>
      </p:nvGrpSpPr>
      <p:grpSpPr>
        <a:xfrm>
          <a:off x="0" y="0"/>
          <a:ext cx="0" cy="0"/>
          <a:chOff x="0" y="0"/>
          <a:chExt cx="0" cy="0"/>
        </a:xfrm>
      </p:grpSpPr>
      <p:sp>
        <p:nvSpPr>
          <p:cNvPr name="TextBox 2" id="2"/>
          <p:cNvSpPr txBox="true"/>
          <p:nvPr/>
        </p:nvSpPr>
        <p:spPr>
          <a:xfrm rot="0">
            <a:off x="2161275" y="940946"/>
            <a:ext cx="13965450" cy="694343"/>
          </a:xfrm>
          <a:prstGeom prst="rect">
            <a:avLst/>
          </a:prstGeom>
        </p:spPr>
        <p:txBody>
          <a:bodyPr anchor="t" rtlCol="false" tIns="0" lIns="0" bIns="0" rIns="0">
            <a:spAutoFit/>
          </a:bodyPr>
          <a:lstStyle/>
          <a:p>
            <a:pPr algn="l">
              <a:lnSpc>
                <a:spcPts val="5776"/>
              </a:lnSpc>
            </a:pPr>
            <a:r>
              <a:rPr lang="en-US" sz="4126" b="true">
                <a:solidFill>
                  <a:srgbClr val="FFFFFF"/>
                </a:solidFill>
                <a:latin typeface="Open Sans Bold"/>
                <a:ea typeface="Open Sans Bold"/>
                <a:cs typeface="Open Sans Bold"/>
                <a:sym typeface="Open Sans Bold"/>
              </a:rPr>
              <a:t>2. CLASIFICACIÓN DE LENGUAJES DE PROGRAMACIÓN</a:t>
            </a:r>
          </a:p>
        </p:txBody>
      </p:sp>
      <p:sp>
        <p:nvSpPr>
          <p:cNvPr name="TextBox 3" id="3"/>
          <p:cNvSpPr txBox="true"/>
          <p:nvPr/>
        </p:nvSpPr>
        <p:spPr>
          <a:xfrm rot="0">
            <a:off x="6410981" y="1778165"/>
            <a:ext cx="5466038" cy="597964"/>
          </a:xfrm>
          <a:prstGeom prst="rect">
            <a:avLst/>
          </a:prstGeom>
        </p:spPr>
        <p:txBody>
          <a:bodyPr anchor="t" rtlCol="false" tIns="0" lIns="0" bIns="0" rIns="0">
            <a:spAutoFit/>
          </a:bodyPr>
          <a:lstStyle/>
          <a:p>
            <a:pPr algn="ctr">
              <a:lnSpc>
                <a:spcPts val="4988"/>
              </a:lnSpc>
            </a:pPr>
            <a:r>
              <a:rPr lang="en-US" b="true" sz="3563">
                <a:solidFill>
                  <a:srgbClr val="FFFFFF"/>
                </a:solidFill>
                <a:latin typeface="Open Sans Bold"/>
                <a:ea typeface="Open Sans Bold"/>
                <a:cs typeface="Open Sans Bold"/>
                <a:sym typeface="Open Sans Bold"/>
              </a:rPr>
              <a:t>NIVEL DE ABSTRACCIÓN:</a:t>
            </a:r>
          </a:p>
        </p:txBody>
      </p:sp>
      <p:sp>
        <p:nvSpPr>
          <p:cNvPr name="TextBox 4" id="4"/>
          <p:cNvSpPr txBox="true"/>
          <p:nvPr/>
        </p:nvSpPr>
        <p:spPr>
          <a:xfrm rot="0">
            <a:off x="1278134" y="5685282"/>
            <a:ext cx="16365284" cy="1616964"/>
          </a:xfrm>
          <a:prstGeom prst="rect">
            <a:avLst/>
          </a:prstGeom>
        </p:spPr>
        <p:txBody>
          <a:bodyPr anchor="t" rtlCol="false" tIns="0" lIns="0" bIns="0" rIns="0">
            <a:spAutoFit/>
          </a:bodyPr>
          <a:lstStyle/>
          <a:p>
            <a:pPr algn="l" marL="505206" indent="-252603" lvl="1">
              <a:lnSpc>
                <a:spcPts val="3276"/>
              </a:lnSpc>
              <a:spcBef>
                <a:spcPct val="0"/>
              </a:spcBef>
              <a:buFont typeface="Arial"/>
              <a:buChar char="•"/>
            </a:pPr>
            <a:r>
              <a:rPr lang="en-US" b="true" sz="2340" u="sng">
                <a:solidFill>
                  <a:srgbClr val="FFFFFF"/>
                </a:solidFill>
                <a:latin typeface="Open Sans Bold"/>
                <a:ea typeface="Open Sans Bold"/>
                <a:cs typeface="Open Sans Bold"/>
                <a:sym typeface="Open Sans Bold"/>
              </a:rPr>
              <a:t>Bajo</a:t>
            </a:r>
            <a:r>
              <a:rPr lang="en-US" b="true" sz="2340">
                <a:solidFill>
                  <a:srgbClr val="FFFFFF"/>
                </a:solidFill>
                <a:latin typeface="Open Sans Bold"/>
                <a:ea typeface="Open Sans Bold"/>
                <a:cs typeface="Open Sans Bold"/>
                <a:sym typeface="Open Sans Bold"/>
              </a:rPr>
              <a:t>: aquí, los lenguajes son muy complicados de entender, difícil trabajar con ellos, aunque muy simples para trabajar, ya que no necesitan de un compilador ni intérprete porque operan muy cerca del hardware. Ejemplos: el lenguaje máquina y los ensambladores trabajan casi directamente con el hardware del ordenador.</a:t>
            </a:r>
          </a:p>
        </p:txBody>
      </p:sp>
      <p:sp>
        <p:nvSpPr>
          <p:cNvPr name="TextBox 5" id="5"/>
          <p:cNvSpPr txBox="true"/>
          <p:nvPr/>
        </p:nvSpPr>
        <p:spPr>
          <a:xfrm rot="0">
            <a:off x="1278134" y="4315968"/>
            <a:ext cx="16365284" cy="1207389"/>
          </a:xfrm>
          <a:prstGeom prst="rect">
            <a:avLst/>
          </a:prstGeom>
        </p:spPr>
        <p:txBody>
          <a:bodyPr anchor="t" rtlCol="false" tIns="0" lIns="0" bIns="0" rIns="0">
            <a:spAutoFit/>
          </a:bodyPr>
          <a:lstStyle/>
          <a:p>
            <a:pPr algn="l" marL="505206" indent="-252603" lvl="1">
              <a:lnSpc>
                <a:spcPts val="3276"/>
              </a:lnSpc>
              <a:spcBef>
                <a:spcPct val="0"/>
              </a:spcBef>
              <a:buFont typeface="Arial"/>
              <a:buChar char="•"/>
            </a:pPr>
            <a:r>
              <a:rPr lang="en-US" b="true" sz="2340" u="sng">
                <a:solidFill>
                  <a:srgbClr val="FFFFFF"/>
                </a:solidFill>
                <a:latin typeface="Open Sans Bold"/>
                <a:ea typeface="Open Sans Bold"/>
                <a:cs typeface="Open Sans Bold"/>
                <a:sym typeface="Open Sans Bold"/>
              </a:rPr>
              <a:t>Medio</a:t>
            </a:r>
            <a:r>
              <a:rPr lang="en-US" b="true" sz="2340">
                <a:solidFill>
                  <a:srgbClr val="FFFFFF"/>
                </a:solidFill>
                <a:latin typeface="Open Sans Bold"/>
                <a:ea typeface="Open Sans Bold"/>
                <a:cs typeface="Open Sans Bold"/>
                <a:sym typeface="Open Sans Bold"/>
              </a:rPr>
              <a:t>: este tipo de lenguajes se va acercando a las características del hardware. Para cada elemento hay que especificar dichas características, no es tan intuitivo. Ejemplos: C o Fortran. Aunque C no sea complicado, su arquitectura se acerca al hardware, y te permite interactuar con ello con más libertad.</a:t>
            </a:r>
          </a:p>
        </p:txBody>
      </p:sp>
      <p:sp>
        <p:nvSpPr>
          <p:cNvPr name="TextBox 6" id="6"/>
          <p:cNvSpPr txBox="true"/>
          <p:nvPr/>
        </p:nvSpPr>
        <p:spPr>
          <a:xfrm rot="0">
            <a:off x="1278134" y="2538054"/>
            <a:ext cx="14598817" cy="1616950"/>
          </a:xfrm>
          <a:prstGeom prst="rect">
            <a:avLst/>
          </a:prstGeom>
        </p:spPr>
        <p:txBody>
          <a:bodyPr anchor="t" rtlCol="false" tIns="0" lIns="0" bIns="0" rIns="0">
            <a:spAutoFit/>
          </a:bodyPr>
          <a:lstStyle/>
          <a:p>
            <a:pPr algn="l" marL="505321" indent="-252660" lvl="1">
              <a:lnSpc>
                <a:spcPts val="3276"/>
              </a:lnSpc>
              <a:spcBef>
                <a:spcPct val="0"/>
              </a:spcBef>
              <a:buFont typeface="Arial"/>
              <a:buChar char="•"/>
            </a:pPr>
            <a:r>
              <a:rPr lang="en-US" b="true" sz="2340" u="sng">
                <a:solidFill>
                  <a:srgbClr val="FFFFFF"/>
                </a:solidFill>
                <a:latin typeface="Open Sans Bold"/>
                <a:ea typeface="Open Sans Bold"/>
                <a:cs typeface="Open Sans Bold"/>
                <a:sym typeface="Open Sans Bold"/>
              </a:rPr>
              <a:t>Alto</a:t>
            </a:r>
            <a:r>
              <a:rPr lang="en-US" b="true" sz="2340">
                <a:solidFill>
                  <a:srgbClr val="FFFFFF"/>
                </a:solidFill>
                <a:latin typeface="Open Sans Bold"/>
                <a:ea typeface="Open Sans Bold"/>
                <a:cs typeface="Open Sans Bold"/>
                <a:sym typeface="Open Sans Bold"/>
              </a:rPr>
              <a:t>: el programador puede leer y escribir código de forma sencilla, sin atender a muchos detalles. Ejemplo: Python y Java son lenguajes de alto nivel, pues para declarar una variable, sus elementos son </a:t>
            </a:r>
            <a:r>
              <a:rPr lang="en-US" b="true" sz="2340" i="true">
                <a:solidFill>
                  <a:srgbClr val="FFFFFF"/>
                </a:solidFill>
                <a:latin typeface="Open Sans Bold Italics"/>
                <a:ea typeface="Open Sans Bold Italics"/>
                <a:cs typeface="Open Sans Bold Italics"/>
                <a:sym typeface="Open Sans Bold Italics"/>
              </a:rPr>
              <a:t>nombre = “String”</a:t>
            </a:r>
            <a:r>
              <a:rPr lang="en-US" b="true" sz="2340">
                <a:solidFill>
                  <a:srgbClr val="FFFFFF"/>
                </a:solidFill>
                <a:latin typeface="Open Sans Bold"/>
                <a:ea typeface="Open Sans Bold"/>
                <a:cs typeface="Open Sans Bold"/>
                <a:sym typeface="Open Sans Bold"/>
              </a:rPr>
              <a:t>, y eso se entiende (en caso de Java, hay que especificar el tipo de variable, pero sigue siendo de alto nivel.</a:t>
            </a:r>
          </a:p>
        </p:txBody>
      </p:sp>
      <p:sp>
        <p:nvSpPr>
          <p:cNvPr name="TextBox 7" id="7"/>
          <p:cNvSpPr txBox="true"/>
          <p:nvPr/>
        </p:nvSpPr>
        <p:spPr>
          <a:xfrm rot="0">
            <a:off x="3431186" y="7041935"/>
            <a:ext cx="11176194" cy="1043148"/>
          </a:xfrm>
          <a:prstGeom prst="rect">
            <a:avLst/>
          </a:prstGeom>
        </p:spPr>
        <p:txBody>
          <a:bodyPr anchor="t" rtlCol="false" tIns="0" lIns="0" bIns="0" rIns="0">
            <a:spAutoFit/>
          </a:bodyPr>
          <a:lstStyle/>
          <a:p>
            <a:pPr algn="ctr">
              <a:lnSpc>
                <a:spcPts val="4183"/>
              </a:lnSpc>
              <a:spcBef>
                <a:spcPct val="0"/>
              </a:spcBef>
            </a:pPr>
            <a:r>
              <a:rPr lang="en-US" b="true" sz="2988">
                <a:solidFill>
                  <a:srgbClr val="FFFFFF"/>
                </a:solidFill>
                <a:latin typeface="Open Sans Bold"/>
                <a:ea typeface="Open Sans Bold"/>
                <a:cs typeface="Open Sans Bold"/>
                <a:sym typeface="Open Sans Bold"/>
              </a:rPr>
              <a:t>En cuanto a los paradigmas del programación, distinguimos dos:</a:t>
            </a:r>
          </a:p>
        </p:txBody>
      </p:sp>
      <p:sp>
        <p:nvSpPr>
          <p:cNvPr name="TextBox 8" id="8"/>
          <p:cNvSpPr txBox="true"/>
          <p:nvPr/>
        </p:nvSpPr>
        <p:spPr>
          <a:xfrm rot="0">
            <a:off x="1028700" y="8046983"/>
            <a:ext cx="15981166" cy="797731"/>
          </a:xfrm>
          <a:prstGeom prst="rect">
            <a:avLst/>
          </a:prstGeom>
        </p:spPr>
        <p:txBody>
          <a:bodyPr anchor="t" rtlCol="false" tIns="0" lIns="0" bIns="0" rIns="0">
            <a:spAutoFit/>
          </a:bodyPr>
          <a:lstStyle/>
          <a:p>
            <a:pPr algn="l" marL="505912" indent="-252956" lvl="1">
              <a:lnSpc>
                <a:spcPts val="3280"/>
              </a:lnSpc>
              <a:spcBef>
                <a:spcPct val="0"/>
              </a:spcBef>
              <a:buFont typeface="Arial"/>
              <a:buChar char="•"/>
            </a:pPr>
            <a:r>
              <a:rPr lang="en-US" b="true" sz="2343" u="sng">
                <a:solidFill>
                  <a:srgbClr val="FFFFFF"/>
                </a:solidFill>
                <a:latin typeface="Open Sans Bold"/>
                <a:ea typeface="Open Sans Bold"/>
                <a:cs typeface="Open Sans Bold"/>
                <a:sym typeface="Open Sans Bold"/>
              </a:rPr>
              <a:t>Imperativos</a:t>
            </a:r>
            <a:r>
              <a:rPr lang="en-US" b="true" sz="2343">
                <a:solidFill>
                  <a:srgbClr val="FFFFFF"/>
                </a:solidFill>
                <a:latin typeface="Open Sans Bold"/>
                <a:ea typeface="Open Sans Bold"/>
                <a:cs typeface="Open Sans Bold"/>
                <a:sym typeface="Open Sans Bold"/>
              </a:rPr>
              <a:t>: aquellos que, mediante un conjunto de instrucciones y expresiones, permiten crear un algoritmo que lleve a un resultado.</a:t>
            </a:r>
          </a:p>
        </p:txBody>
      </p:sp>
      <p:sp>
        <p:nvSpPr>
          <p:cNvPr name="TextBox 9" id="9"/>
          <p:cNvSpPr txBox="true"/>
          <p:nvPr/>
        </p:nvSpPr>
        <p:spPr>
          <a:xfrm rot="0">
            <a:off x="1028700" y="9006639"/>
            <a:ext cx="15981166" cy="797731"/>
          </a:xfrm>
          <a:prstGeom prst="rect">
            <a:avLst/>
          </a:prstGeom>
        </p:spPr>
        <p:txBody>
          <a:bodyPr anchor="t" rtlCol="false" tIns="0" lIns="0" bIns="0" rIns="0">
            <a:spAutoFit/>
          </a:bodyPr>
          <a:lstStyle/>
          <a:p>
            <a:pPr algn="l" marL="505912" indent="-252956" lvl="1">
              <a:lnSpc>
                <a:spcPts val="3280"/>
              </a:lnSpc>
              <a:spcBef>
                <a:spcPct val="0"/>
              </a:spcBef>
              <a:buFont typeface="Arial"/>
              <a:buChar char="•"/>
            </a:pPr>
            <a:r>
              <a:rPr lang="en-US" b="true" sz="2343" u="sng">
                <a:solidFill>
                  <a:srgbClr val="FFFFFF"/>
                </a:solidFill>
                <a:latin typeface="Open Sans Bold"/>
                <a:ea typeface="Open Sans Bold"/>
                <a:cs typeface="Open Sans Bold"/>
                <a:sym typeface="Open Sans Bold"/>
              </a:rPr>
              <a:t>Declarativos</a:t>
            </a:r>
            <a:r>
              <a:rPr lang="en-US" b="true" sz="2343">
                <a:solidFill>
                  <a:srgbClr val="FFFFFF"/>
                </a:solidFill>
                <a:latin typeface="Open Sans Bold"/>
                <a:ea typeface="Open Sans Bold"/>
                <a:cs typeface="Open Sans Bold"/>
                <a:sym typeface="Open Sans Bold"/>
              </a:rPr>
              <a:t>: estos solo te dan los valores que consiguen llevar al final del resultado, sin decir explícitamente qué se ha hecho para llegar a dicho resultado.</a:t>
            </a:r>
          </a:p>
        </p:txBody>
      </p:sp>
    </p:spTree>
  </p:cSld>
  <p:clrMapOvr>
    <a:masterClrMapping/>
  </p:clrMapOvr>
</p:sld>
</file>

<file path=ppt/slides/slide7.xml><?xml version="1.0" encoding="utf-8"?>
<p:sld xmlns:p="http://schemas.openxmlformats.org/presentationml/2006/main" xmlns:a="http://schemas.openxmlformats.org/drawingml/2006/main">
  <p:cSld>
    <p:bg>
      <p:bgPr>
        <a:solidFill>
          <a:srgbClr val="12229D"/>
        </a:solidFill>
      </p:bgPr>
    </p:bg>
    <p:spTree>
      <p:nvGrpSpPr>
        <p:cNvPr id="1" name=""/>
        <p:cNvGrpSpPr/>
        <p:nvPr/>
      </p:nvGrpSpPr>
      <p:grpSpPr>
        <a:xfrm>
          <a:off x="0" y="0"/>
          <a:ext cx="0" cy="0"/>
          <a:chOff x="0" y="0"/>
          <a:chExt cx="0" cy="0"/>
        </a:xfrm>
      </p:grpSpPr>
      <p:sp>
        <p:nvSpPr>
          <p:cNvPr name="TextBox 2" id="2"/>
          <p:cNvSpPr txBox="true"/>
          <p:nvPr/>
        </p:nvSpPr>
        <p:spPr>
          <a:xfrm rot="0">
            <a:off x="1028700" y="952500"/>
            <a:ext cx="16230600" cy="1472554"/>
          </a:xfrm>
          <a:prstGeom prst="rect">
            <a:avLst/>
          </a:prstGeom>
        </p:spPr>
        <p:txBody>
          <a:bodyPr anchor="t" rtlCol="false" tIns="0" lIns="0" bIns="0" rIns="0">
            <a:spAutoFit/>
          </a:bodyPr>
          <a:lstStyle/>
          <a:p>
            <a:pPr algn="ctr">
              <a:lnSpc>
                <a:spcPts val="5985"/>
              </a:lnSpc>
            </a:pPr>
            <a:r>
              <a:rPr lang="en-US" sz="4275" b="true">
                <a:solidFill>
                  <a:srgbClr val="FFFFFF"/>
                </a:solidFill>
                <a:latin typeface="Open Sans Bold"/>
                <a:ea typeface="Open Sans Bold"/>
                <a:cs typeface="Open Sans Bold"/>
                <a:sym typeface="Open Sans Bold"/>
              </a:rPr>
              <a:t>3. IDENTIFICACIÓN DE LOS PARADIGMAS DE PROGRAMACIÓN MEDIANTE EJEMPLOS</a:t>
            </a:r>
          </a:p>
        </p:txBody>
      </p:sp>
      <p:sp>
        <p:nvSpPr>
          <p:cNvPr name="TextBox 3" id="3"/>
          <p:cNvSpPr txBox="true"/>
          <p:nvPr/>
        </p:nvSpPr>
        <p:spPr>
          <a:xfrm rot="0">
            <a:off x="1028700" y="2712585"/>
            <a:ext cx="16230600" cy="1012190"/>
          </a:xfrm>
          <a:prstGeom prst="rect">
            <a:avLst/>
          </a:prstGeom>
        </p:spPr>
        <p:txBody>
          <a:bodyPr anchor="t" rtlCol="false" tIns="0" lIns="0" bIns="0" rIns="0">
            <a:spAutoFit/>
          </a:bodyPr>
          <a:lstStyle/>
          <a:p>
            <a:pPr algn="l">
              <a:lnSpc>
                <a:spcPts val="4060"/>
              </a:lnSpc>
              <a:spcBef>
                <a:spcPct val="0"/>
              </a:spcBef>
            </a:pPr>
            <a:r>
              <a:rPr lang="en-US" b="true" sz="2900">
                <a:solidFill>
                  <a:srgbClr val="FFFFFF"/>
                </a:solidFill>
                <a:latin typeface="Open Sans Bold"/>
                <a:ea typeface="Open Sans Bold"/>
                <a:cs typeface="Open Sans Bold"/>
                <a:sym typeface="Open Sans Bold"/>
              </a:rPr>
              <a:t>Fragmento 1:  imperativo. El programador crea la sintaxis del código y el programa ejecuta línea por línea de forma explícita, dando lugar al resultado.</a:t>
            </a:r>
          </a:p>
        </p:txBody>
      </p:sp>
      <p:sp>
        <p:nvSpPr>
          <p:cNvPr name="TextBox 4" id="4"/>
          <p:cNvSpPr txBox="true"/>
          <p:nvPr/>
        </p:nvSpPr>
        <p:spPr>
          <a:xfrm rot="0">
            <a:off x="1028700" y="3939289"/>
            <a:ext cx="16230600" cy="1526540"/>
          </a:xfrm>
          <a:prstGeom prst="rect">
            <a:avLst/>
          </a:prstGeom>
        </p:spPr>
        <p:txBody>
          <a:bodyPr anchor="t" rtlCol="false" tIns="0" lIns="0" bIns="0" rIns="0">
            <a:spAutoFit/>
          </a:bodyPr>
          <a:lstStyle/>
          <a:p>
            <a:pPr algn="l">
              <a:lnSpc>
                <a:spcPts val="4060"/>
              </a:lnSpc>
              <a:spcBef>
                <a:spcPct val="0"/>
              </a:spcBef>
            </a:pPr>
            <a:r>
              <a:rPr lang="en-US" b="true" sz="2900">
                <a:solidFill>
                  <a:srgbClr val="FFFFFF"/>
                </a:solidFill>
                <a:latin typeface="Open Sans Bold"/>
                <a:ea typeface="Open Sans Bold"/>
                <a:cs typeface="Open Sans Bold"/>
                <a:sym typeface="Open Sans Bold"/>
              </a:rPr>
              <a:t>Fragmento 2:  declarativo. Esto es debido a que, en la consulta, el usuario pide los nombres de los empleados, y éste solamente recibe los nombres. No obstante, no recibe información sobre el algoritmo que se ha creado internamente.</a:t>
            </a:r>
          </a:p>
        </p:txBody>
      </p:sp>
      <p:sp>
        <p:nvSpPr>
          <p:cNvPr name="TextBox 5" id="5"/>
          <p:cNvSpPr txBox="true"/>
          <p:nvPr/>
        </p:nvSpPr>
        <p:spPr>
          <a:xfrm rot="0">
            <a:off x="1028700" y="5642243"/>
            <a:ext cx="16230600" cy="2040890"/>
          </a:xfrm>
          <a:prstGeom prst="rect">
            <a:avLst/>
          </a:prstGeom>
        </p:spPr>
        <p:txBody>
          <a:bodyPr anchor="t" rtlCol="false" tIns="0" lIns="0" bIns="0" rIns="0">
            <a:spAutoFit/>
          </a:bodyPr>
          <a:lstStyle/>
          <a:p>
            <a:pPr algn="l">
              <a:lnSpc>
                <a:spcPts val="4060"/>
              </a:lnSpc>
              <a:spcBef>
                <a:spcPct val="0"/>
              </a:spcBef>
            </a:pPr>
            <a:r>
              <a:rPr lang="en-US" b="true" sz="2900">
                <a:solidFill>
                  <a:srgbClr val="FFFFFF"/>
                </a:solidFill>
                <a:latin typeface="Open Sans Bold"/>
                <a:ea typeface="Open Sans Bold"/>
                <a:cs typeface="Open Sans Bold"/>
                <a:sym typeface="Open Sans Bold"/>
              </a:rPr>
              <a:t>Fragmento 3:  imperativo. El programa calcula internamente el factorial, definiendo previamente las propiedades de los números factoriales. A la hora de imprimir el resultado, solamente da el resultado de todas esas operaciones, pero no te especifica el procedimiento.</a:t>
            </a:r>
          </a:p>
        </p:txBody>
      </p:sp>
      <p:sp>
        <p:nvSpPr>
          <p:cNvPr name="TextBox 6" id="6"/>
          <p:cNvSpPr txBox="true"/>
          <p:nvPr/>
        </p:nvSpPr>
        <p:spPr>
          <a:xfrm rot="0">
            <a:off x="1028700" y="7747628"/>
            <a:ext cx="16230600" cy="1012190"/>
          </a:xfrm>
          <a:prstGeom prst="rect">
            <a:avLst/>
          </a:prstGeom>
        </p:spPr>
        <p:txBody>
          <a:bodyPr anchor="t" rtlCol="false" tIns="0" lIns="0" bIns="0" rIns="0">
            <a:spAutoFit/>
          </a:bodyPr>
          <a:lstStyle/>
          <a:p>
            <a:pPr algn="l">
              <a:lnSpc>
                <a:spcPts val="4060"/>
              </a:lnSpc>
              <a:spcBef>
                <a:spcPct val="0"/>
              </a:spcBef>
            </a:pPr>
            <a:r>
              <a:rPr lang="en-US" b="true" sz="2900">
                <a:solidFill>
                  <a:srgbClr val="FFFFFF"/>
                </a:solidFill>
                <a:latin typeface="Open Sans Bold"/>
                <a:ea typeface="Open Sans Bold"/>
                <a:cs typeface="Open Sans Bold"/>
                <a:sym typeface="Open Sans Bold"/>
              </a:rPr>
              <a:t>Fragmento 1:  declarativo. Al comprobar cada producto uno por uno, te explica por qué hay productos que no están filtrados, mientras que otros sí lo están.</a:t>
            </a:r>
          </a:p>
        </p:txBody>
      </p:sp>
    </p:spTree>
  </p:cSld>
  <p:clrMapOvr>
    <a:masterClrMapping/>
  </p:clrMapOvr>
</p:sld>
</file>

<file path=ppt/slides/slide8.xml><?xml version="1.0" encoding="utf-8"?>
<p:sld xmlns:p="http://schemas.openxmlformats.org/presentationml/2006/main" xmlns:a="http://schemas.openxmlformats.org/drawingml/2006/main">
  <p:cSld>
    <p:bg>
      <p:bgPr>
        <a:solidFill>
          <a:srgbClr val="12229D"/>
        </a:solidFill>
      </p:bgPr>
    </p:bg>
    <p:spTree>
      <p:nvGrpSpPr>
        <p:cNvPr id="1" name=""/>
        <p:cNvGrpSpPr/>
        <p:nvPr/>
      </p:nvGrpSpPr>
      <p:grpSpPr>
        <a:xfrm>
          <a:off x="0" y="0"/>
          <a:ext cx="0" cy="0"/>
          <a:chOff x="0" y="0"/>
          <a:chExt cx="0" cy="0"/>
        </a:xfrm>
      </p:grpSpPr>
      <p:grpSp>
        <p:nvGrpSpPr>
          <p:cNvPr name="Group 2" id="2"/>
          <p:cNvGrpSpPr/>
          <p:nvPr/>
        </p:nvGrpSpPr>
        <p:grpSpPr>
          <a:xfrm rot="0">
            <a:off x="1028700" y="7798500"/>
            <a:ext cx="16230600" cy="1606793"/>
            <a:chOff x="0" y="0"/>
            <a:chExt cx="4274726" cy="423188"/>
          </a:xfrm>
        </p:grpSpPr>
        <p:sp>
          <p:nvSpPr>
            <p:cNvPr name="Freeform 3" id="3"/>
            <p:cNvSpPr/>
            <p:nvPr/>
          </p:nvSpPr>
          <p:spPr>
            <a:xfrm flipH="false" flipV="false" rot="0">
              <a:off x="0" y="0"/>
              <a:ext cx="4274726" cy="423188"/>
            </a:xfrm>
            <a:custGeom>
              <a:avLst/>
              <a:gdLst/>
              <a:ahLst/>
              <a:cxnLst/>
              <a:rect r="r" b="b" t="t" l="l"/>
              <a:pathLst>
                <a:path h="423188" w="4274726">
                  <a:moveTo>
                    <a:pt x="24148" y="0"/>
                  </a:moveTo>
                  <a:lnTo>
                    <a:pt x="4250578" y="0"/>
                  </a:lnTo>
                  <a:cubicBezTo>
                    <a:pt x="4263915" y="0"/>
                    <a:pt x="4274726" y="10811"/>
                    <a:pt x="4274726" y="24148"/>
                  </a:cubicBezTo>
                  <a:lnTo>
                    <a:pt x="4274726" y="399040"/>
                  </a:lnTo>
                  <a:cubicBezTo>
                    <a:pt x="4274726" y="412377"/>
                    <a:pt x="4263915" y="423188"/>
                    <a:pt x="4250578" y="423188"/>
                  </a:cubicBezTo>
                  <a:lnTo>
                    <a:pt x="24148" y="423188"/>
                  </a:lnTo>
                  <a:cubicBezTo>
                    <a:pt x="17743" y="423188"/>
                    <a:pt x="11601" y="420644"/>
                    <a:pt x="7073" y="416115"/>
                  </a:cubicBezTo>
                  <a:cubicBezTo>
                    <a:pt x="2544" y="411587"/>
                    <a:pt x="0" y="405445"/>
                    <a:pt x="0" y="399040"/>
                  </a:cubicBezTo>
                  <a:lnTo>
                    <a:pt x="0" y="24148"/>
                  </a:lnTo>
                  <a:cubicBezTo>
                    <a:pt x="0" y="17743"/>
                    <a:pt x="2544" y="11601"/>
                    <a:pt x="7073" y="7073"/>
                  </a:cubicBezTo>
                  <a:cubicBezTo>
                    <a:pt x="11601" y="2544"/>
                    <a:pt x="17743" y="0"/>
                    <a:pt x="24148" y="0"/>
                  </a:cubicBezTo>
                  <a:close/>
                </a:path>
              </a:pathLst>
            </a:custGeom>
            <a:solidFill>
              <a:srgbClr val="FFFFFF"/>
            </a:solidFill>
            <a:ln w="95250" cap="rnd">
              <a:solidFill>
                <a:srgbClr val="000000"/>
              </a:solidFill>
              <a:prstDash val="solid"/>
              <a:round/>
            </a:ln>
          </p:spPr>
        </p:sp>
        <p:sp>
          <p:nvSpPr>
            <p:cNvPr name="TextBox 4" id="4"/>
            <p:cNvSpPr txBox="true"/>
            <p:nvPr/>
          </p:nvSpPr>
          <p:spPr>
            <a:xfrm>
              <a:off x="0" y="-38100"/>
              <a:ext cx="4274726" cy="461288"/>
            </a:xfrm>
            <a:prstGeom prst="rect">
              <a:avLst/>
            </a:prstGeom>
          </p:spPr>
          <p:txBody>
            <a:bodyPr anchor="ctr" rtlCol="false" tIns="50800" lIns="50800" bIns="50800" rIns="50800"/>
            <a:lstStyle/>
            <a:p>
              <a:pPr algn="ctr">
                <a:lnSpc>
                  <a:spcPts val="2659"/>
                </a:lnSpc>
                <a:spcBef>
                  <a:spcPct val="0"/>
                </a:spcBef>
              </a:pPr>
            </a:p>
          </p:txBody>
        </p:sp>
      </p:grpSp>
      <p:sp>
        <p:nvSpPr>
          <p:cNvPr name="AutoShape 5" id="5"/>
          <p:cNvSpPr/>
          <p:nvPr/>
        </p:nvSpPr>
        <p:spPr>
          <a:xfrm>
            <a:off x="7407338" y="9022307"/>
            <a:ext cx="4212602" cy="19049"/>
          </a:xfrm>
          <a:prstGeom prst="line">
            <a:avLst/>
          </a:prstGeom>
          <a:ln cap="flat" w="104775">
            <a:solidFill>
              <a:srgbClr val="000000"/>
            </a:solidFill>
            <a:prstDash val="solid"/>
            <a:headEnd type="none" len="sm" w="sm"/>
            <a:tailEnd type="triangle" len="med" w="lg"/>
          </a:ln>
        </p:spPr>
      </p:sp>
      <p:sp>
        <p:nvSpPr>
          <p:cNvPr name="TextBox 6" id="6"/>
          <p:cNvSpPr txBox="true"/>
          <p:nvPr/>
        </p:nvSpPr>
        <p:spPr>
          <a:xfrm rot="0">
            <a:off x="1028700" y="942975"/>
            <a:ext cx="16230600" cy="1556269"/>
          </a:xfrm>
          <a:prstGeom prst="rect">
            <a:avLst/>
          </a:prstGeom>
        </p:spPr>
        <p:txBody>
          <a:bodyPr anchor="t" rtlCol="false" tIns="0" lIns="0" bIns="0" rIns="0">
            <a:spAutoFit/>
          </a:bodyPr>
          <a:lstStyle/>
          <a:p>
            <a:pPr algn="ctr">
              <a:lnSpc>
                <a:spcPts val="6248"/>
              </a:lnSpc>
            </a:pPr>
            <a:r>
              <a:rPr lang="en-US" b="true" sz="4463" spc="357">
                <a:solidFill>
                  <a:srgbClr val="F4F6FC"/>
                </a:solidFill>
                <a:latin typeface="Open Sans Bold"/>
                <a:ea typeface="Open Sans Bold"/>
                <a:cs typeface="Open Sans Bold"/>
                <a:sym typeface="Open Sans Bold"/>
              </a:rPr>
              <a:t>4. ACTIVIDAD COTIDIANA DE MANERA IMPERATIVA Y DECLARATIVA</a:t>
            </a:r>
          </a:p>
        </p:txBody>
      </p:sp>
      <p:sp>
        <p:nvSpPr>
          <p:cNvPr name="TextBox 7" id="7"/>
          <p:cNvSpPr txBox="true"/>
          <p:nvPr/>
        </p:nvSpPr>
        <p:spPr>
          <a:xfrm rot="0">
            <a:off x="5130701" y="2724267"/>
            <a:ext cx="8026598" cy="687647"/>
          </a:xfrm>
          <a:prstGeom prst="rect">
            <a:avLst/>
          </a:prstGeom>
        </p:spPr>
        <p:txBody>
          <a:bodyPr anchor="t" rtlCol="false" tIns="0" lIns="0" bIns="0" rIns="0">
            <a:spAutoFit/>
          </a:bodyPr>
          <a:lstStyle/>
          <a:p>
            <a:pPr algn="ctr">
              <a:lnSpc>
                <a:spcPts val="5673"/>
              </a:lnSpc>
              <a:spcBef>
                <a:spcPct val="0"/>
              </a:spcBef>
            </a:pPr>
            <a:r>
              <a:rPr lang="en-US" b="true" sz="4052">
                <a:solidFill>
                  <a:srgbClr val="F4F6FC"/>
                </a:solidFill>
                <a:latin typeface="Open Sans Bold"/>
                <a:ea typeface="Open Sans Bold"/>
                <a:cs typeface="Open Sans Bold"/>
                <a:sym typeface="Open Sans Bold"/>
              </a:rPr>
              <a:t>La actividad es: estar en forma.</a:t>
            </a:r>
          </a:p>
        </p:txBody>
      </p:sp>
      <p:sp>
        <p:nvSpPr>
          <p:cNvPr name="TextBox 8" id="8"/>
          <p:cNvSpPr txBox="true"/>
          <p:nvPr/>
        </p:nvSpPr>
        <p:spPr>
          <a:xfrm rot="0">
            <a:off x="2445216" y="3659564"/>
            <a:ext cx="2205875" cy="505278"/>
          </a:xfrm>
          <a:prstGeom prst="rect">
            <a:avLst/>
          </a:prstGeom>
        </p:spPr>
        <p:txBody>
          <a:bodyPr anchor="t" rtlCol="false" tIns="0" lIns="0" bIns="0" rIns="0">
            <a:spAutoFit/>
          </a:bodyPr>
          <a:lstStyle/>
          <a:p>
            <a:pPr algn="ctr">
              <a:lnSpc>
                <a:spcPts val="4157"/>
              </a:lnSpc>
              <a:spcBef>
                <a:spcPct val="0"/>
              </a:spcBef>
            </a:pPr>
            <a:r>
              <a:rPr lang="en-US" b="true" sz="2969">
                <a:solidFill>
                  <a:srgbClr val="F4F6FC"/>
                </a:solidFill>
                <a:latin typeface="Open Sans Bold"/>
                <a:ea typeface="Open Sans Bold"/>
                <a:cs typeface="Open Sans Bold"/>
                <a:sym typeface="Open Sans Bold"/>
              </a:rPr>
              <a:t>Imperativa: </a:t>
            </a:r>
          </a:p>
        </p:txBody>
      </p:sp>
      <p:sp>
        <p:nvSpPr>
          <p:cNvPr name="TextBox 9" id="9"/>
          <p:cNvSpPr txBox="true"/>
          <p:nvPr/>
        </p:nvSpPr>
        <p:spPr>
          <a:xfrm rot="0">
            <a:off x="2291291" y="4416486"/>
            <a:ext cx="13705418" cy="2995651"/>
          </a:xfrm>
          <a:prstGeom prst="rect">
            <a:avLst/>
          </a:prstGeom>
        </p:spPr>
        <p:txBody>
          <a:bodyPr anchor="t" rtlCol="false" tIns="0" lIns="0" bIns="0" rIns="0">
            <a:spAutoFit/>
          </a:bodyPr>
          <a:lstStyle/>
          <a:p>
            <a:pPr algn="l" marL="528314" indent="-264157" lvl="1">
              <a:lnSpc>
                <a:spcPts val="3425"/>
              </a:lnSpc>
              <a:buAutoNum type="arabicPeriod" startAt="1"/>
            </a:pPr>
            <a:r>
              <a:rPr lang="en-US" b="true" sz="2447">
                <a:solidFill>
                  <a:srgbClr val="F4F6FC"/>
                </a:solidFill>
                <a:latin typeface="Open Sans Bold"/>
                <a:ea typeface="Open Sans Bold"/>
                <a:cs typeface="Open Sans Bold"/>
                <a:sym typeface="Open Sans Bold"/>
              </a:rPr>
              <a:t>No estás en forma</a:t>
            </a:r>
          </a:p>
          <a:p>
            <a:pPr algn="l" marL="528314" indent="-264157" lvl="1">
              <a:lnSpc>
                <a:spcPts val="3425"/>
              </a:lnSpc>
              <a:buAutoNum type="arabicPeriod" startAt="1"/>
            </a:pPr>
            <a:r>
              <a:rPr lang="en-US" b="true" sz="2447">
                <a:solidFill>
                  <a:srgbClr val="F4F6FC"/>
                </a:solidFill>
                <a:latin typeface="Open Sans Bold"/>
                <a:ea typeface="Open Sans Bold"/>
                <a:cs typeface="Open Sans Bold"/>
                <a:sym typeface="Open Sans Bold"/>
              </a:rPr>
              <a:t>Ir al gimnasio</a:t>
            </a:r>
          </a:p>
          <a:p>
            <a:pPr algn="l" marL="528314" indent="-264157" lvl="1">
              <a:lnSpc>
                <a:spcPts val="3425"/>
              </a:lnSpc>
              <a:buAutoNum type="arabicPeriod" startAt="1"/>
            </a:pPr>
            <a:r>
              <a:rPr lang="en-US" b="true" sz="2447">
                <a:solidFill>
                  <a:srgbClr val="F4F6FC"/>
                </a:solidFill>
                <a:latin typeface="Open Sans Bold"/>
                <a:ea typeface="Open Sans Bold"/>
                <a:cs typeface="Open Sans Bold"/>
                <a:sym typeface="Open Sans Bold"/>
              </a:rPr>
              <a:t>Hacer pesas y algo de cardio</a:t>
            </a:r>
          </a:p>
          <a:p>
            <a:pPr algn="l" marL="528314" indent="-264157" lvl="1">
              <a:lnSpc>
                <a:spcPts val="3425"/>
              </a:lnSpc>
              <a:buAutoNum type="arabicPeriod" startAt="1"/>
            </a:pPr>
            <a:r>
              <a:rPr lang="en-US" b="true" sz="2447">
                <a:solidFill>
                  <a:srgbClr val="F4F6FC"/>
                </a:solidFill>
                <a:latin typeface="Open Sans Bold"/>
                <a:ea typeface="Open Sans Bold"/>
                <a:cs typeface="Open Sans Bold"/>
                <a:sym typeface="Open Sans Bold"/>
              </a:rPr>
              <a:t>Comer sano y hacer buena dieta</a:t>
            </a:r>
          </a:p>
          <a:p>
            <a:pPr algn="l" marL="528314" indent="-264157" lvl="1">
              <a:lnSpc>
                <a:spcPts val="3425"/>
              </a:lnSpc>
              <a:buAutoNum type="arabicPeriod" startAt="1"/>
            </a:pPr>
            <a:r>
              <a:rPr lang="en-US" b="true" sz="2447">
                <a:solidFill>
                  <a:srgbClr val="F4F6FC"/>
                </a:solidFill>
                <a:latin typeface="Open Sans Bold"/>
                <a:ea typeface="Open Sans Bold"/>
                <a:cs typeface="Open Sans Bold"/>
                <a:sym typeface="Open Sans Bold"/>
              </a:rPr>
              <a:t>Dormir bien</a:t>
            </a:r>
          </a:p>
          <a:p>
            <a:pPr algn="l" marL="528314" indent="-264157" lvl="1">
              <a:lnSpc>
                <a:spcPts val="3425"/>
              </a:lnSpc>
              <a:buAutoNum type="arabicPeriod" startAt="1"/>
            </a:pPr>
            <a:r>
              <a:rPr lang="en-US" b="true" sz="2447">
                <a:solidFill>
                  <a:srgbClr val="F4F6FC"/>
                </a:solidFill>
                <a:latin typeface="Open Sans Bold"/>
                <a:ea typeface="Open Sans Bold"/>
                <a:cs typeface="Open Sans Bold"/>
                <a:sym typeface="Open Sans Bold"/>
              </a:rPr>
              <a:t>Repetir durante meses</a:t>
            </a:r>
          </a:p>
          <a:p>
            <a:pPr algn="l" marL="528314" indent="-264157" lvl="1">
              <a:lnSpc>
                <a:spcPts val="3425"/>
              </a:lnSpc>
              <a:spcBef>
                <a:spcPct val="0"/>
              </a:spcBef>
              <a:buAutoNum type="arabicPeriod" startAt="1"/>
            </a:pPr>
            <a:r>
              <a:rPr lang="en-US" b="true" sz="2447">
                <a:solidFill>
                  <a:srgbClr val="F4F6FC"/>
                </a:solidFill>
                <a:latin typeface="Open Sans Bold"/>
                <a:ea typeface="Open Sans Bold"/>
                <a:cs typeface="Open Sans Bold"/>
                <a:sym typeface="Open Sans Bold"/>
              </a:rPr>
              <a:t>Resultado: estás en forma</a:t>
            </a:r>
          </a:p>
        </p:txBody>
      </p:sp>
      <p:sp>
        <p:nvSpPr>
          <p:cNvPr name="TextBox 10" id="10"/>
          <p:cNvSpPr txBox="true"/>
          <p:nvPr/>
        </p:nvSpPr>
        <p:spPr>
          <a:xfrm rot="0">
            <a:off x="2465054" y="7933058"/>
            <a:ext cx="2579378" cy="576761"/>
          </a:xfrm>
          <a:prstGeom prst="rect">
            <a:avLst/>
          </a:prstGeom>
        </p:spPr>
        <p:txBody>
          <a:bodyPr anchor="t" rtlCol="false" tIns="0" lIns="0" bIns="0" rIns="0">
            <a:spAutoFit/>
          </a:bodyPr>
          <a:lstStyle/>
          <a:p>
            <a:pPr algn="ctr">
              <a:lnSpc>
                <a:spcPts val="4732"/>
              </a:lnSpc>
              <a:spcBef>
                <a:spcPct val="0"/>
              </a:spcBef>
            </a:pPr>
            <a:r>
              <a:rPr lang="en-US" b="true" sz="3380">
                <a:solidFill>
                  <a:srgbClr val="000000"/>
                </a:solidFill>
                <a:latin typeface="Open Sans Bold"/>
                <a:ea typeface="Open Sans Bold"/>
                <a:cs typeface="Open Sans Bold"/>
                <a:sym typeface="Open Sans Bold"/>
              </a:rPr>
              <a:t>Declarativa:</a:t>
            </a:r>
          </a:p>
        </p:txBody>
      </p:sp>
      <p:sp>
        <p:nvSpPr>
          <p:cNvPr name="TextBox 11" id="11"/>
          <p:cNvSpPr txBox="true"/>
          <p:nvPr/>
        </p:nvSpPr>
        <p:spPr>
          <a:xfrm rot="0">
            <a:off x="2465054" y="8681539"/>
            <a:ext cx="4508176" cy="576761"/>
          </a:xfrm>
          <a:prstGeom prst="rect">
            <a:avLst/>
          </a:prstGeom>
        </p:spPr>
        <p:txBody>
          <a:bodyPr anchor="t" rtlCol="false" tIns="0" lIns="0" bIns="0" rIns="0">
            <a:spAutoFit/>
          </a:bodyPr>
          <a:lstStyle/>
          <a:p>
            <a:pPr algn="ctr">
              <a:lnSpc>
                <a:spcPts val="4732"/>
              </a:lnSpc>
              <a:spcBef>
                <a:spcPct val="0"/>
              </a:spcBef>
            </a:pPr>
            <a:r>
              <a:rPr lang="en-US" b="true" sz="3380">
                <a:solidFill>
                  <a:srgbClr val="000000"/>
                </a:solidFill>
                <a:latin typeface="Open Sans Bold"/>
                <a:ea typeface="Open Sans Bold"/>
                <a:cs typeface="Open Sans Bold"/>
                <a:sym typeface="Open Sans Bold"/>
              </a:rPr>
              <a:t>No estás en forma ... </a:t>
            </a:r>
          </a:p>
        </p:txBody>
      </p:sp>
      <p:sp>
        <p:nvSpPr>
          <p:cNvPr name="TextBox 12" id="12"/>
          <p:cNvSpPr txBox="true"/>
          <p:nvPr/>
        </p:nvSpPr>
        <p:spPr>
          <a:xfrm rot="0">
            <a:off x="12054048" y="8681539"/>
            <a:ext cx="3768897" cy="576761"/>
          </a:xfrm>
          <a:prstGeom prst="rect">
            <a:avLst/>
          </a:prstGeom>
        </p:spPr>
        <p:txBody>
          <a:bodyPr anchor="t" rtlCol="false" tIns="0" lIns="0" bIns="0" rIns="0">
            <a:spAutoFit/>
          </a:bodyPr>
          <a:lstStyle/>
          <a:p>
            <a:pPr algn="ctr">
              <a:lnSpc>
                <a:spcPts val="4732"/>
              </a:lnSpc>
              <a:spcBef>
                <a:spcPct val="0"/>
              </a:spcBef>
            </a:pPr>
            <a:r>
              <a:rPr lang="en-US" b="true" sz="3380">
                <a:solidFill>
                  <a:srgbClr val="000000"/>
                </a:solidFill>
                <a:latin typeface="Open Sans Bold"/>
                <a:ea typeface="Open Sans Bold"/>
                <a:cs typeface="Open Sans Bold"/>
                <a:sym typeface="Open Sans Bold"/>
              </a:rPr>
              <a:t>... Estás en forma </a:t>
            </a:r>
          </a:p>
        </p:txBody>
      </p:sp>
      <p:sp>
        <p:nvSpPr>
          <p:cNvPr name="TextBox 13" id="13"/>
          <p:cNvSpPr txBox="true"/>
          <p:nvPr/>
        </p:nvSpPr>
        <p:spPr>
          <a:xfrm rot="0">
            <a:off x="7907609" y="8041393"/>
            <a:ext cx="3066961" cy="563785"/>
          </a:xfrm>
          <a:prstGeom prst="rect">
            <a:avLst/>
          </a:prstGeom>
        </p:spPr>
        <p:txBody>
          <a:bodyPr anchor="t" rtlCol="false" tIns="0" lIns="0" bIns="0" rIns="0">
            <a:spAutoFit/>
          </a:bodyPr>
          <a:lstStyle/>
          <a:p>
            <a:pPr algn="ctr">
              <a:lnSpc>
                <a:spcPts val="4612"/>
              </a:lnSpc>
              <a:spcBef>
                <a:spcPct val="0"/>
              </a:spcBef>
            </a:pPr>
            <a:r>
              <a:rPr lang="en-US" b="true" sz="3294">
                <a:solidFill>
                  <a:srgbClr val="000000"/>
                </a:solidFill>
                <a:latin typeface="Open Sans Bold"/>
                <a:ea typeface="Open Sans Bold"/>
                <a:cs typeface="Open Sans Bold"/>
                <a:sym typeface="Open Sans Bold"/>
              </a:rPr>
              <a:t>Procedimiento</a:t>
            </a:r>
          </a:p>
        </p:txBody>
      </p:sp>
    </p:spTree>
  </p:cSld>
  <p:clrMapOvr>
    <a:masterClrMapping/>
  </p:clrMapOvr>
</p:sld>
</file>

<file path=ppt/slides/slide9.xml><?xml version="1.0" encoding="utf-8"?>
<p:sld xmlns:p="http://schemas.openxmlformats.org/presentationml/2006/main" xmlns:a="http://schemas.openxmlformats.org/drawingml/2006/main">
  <p:cSld>
    <p:bg>
      <p:bgPr>
        <a:solidFill>
          <a:srgbClr val="12229D"/>
        </a:solidFill>
      </p:bgPr>
    </p:bg>
    <p:spTree>
      <p:nvGrpSpPr>
        <p:cNvPr id="1" name=""/>
        <p:cNvGrpSpPr/>
        <p:nvPr/>
      </p:nvGrpSpPr>
      <p:grpSpPr>
        <a:xfrm>
          <a:off x="0" y="0"/>
          <a:ext cx="0" cy="0"/>
          <a:chOff x="0" y="0"/>
          <a:chExt cx="0" cy="0"/>
        </a:xfrm>
      </p:grpSpPr>
      <p:grpSp>
        <p:nvGrpSpPr>
          <p:cNvPr name="Group 2" id="2"/>
          <p:cNvGrpSpPr/>
          <p:nvPr/>
        </p:nvGrpSpPr>
        <p:grpSpPr>
          <a:xfrm rot="0">
            <a:off x="457790" y="378668"/>
            <a:ext cx="8459842" cy="9529664"/>
            <a:chOff x="0" y="0"/>
            <a:chExt cx="2228107" cy="2509870"/>
          </a:xfrm>
        </p:grpSpPr>
        <p:sp>
          <p:nvSpPr>
            <p:cNvPr name="Freeform 3" id="3"/>
            <p:cNvSpPr/>
            <p:nvPr/>
          </p:nvSpPr>
          <p:spPr>
            <a:xfrm flipH="false" flipV="false" rot="0">
              <a:off x="0" y="0"/>
              <a:ext cx="2228107" cy="2509870"/>
            </a:xfrm>
            <a:custGeom>
              <a:avLst/>
              <a:gdLst/>
              <a:ahLst/>
              <a:cxnLst/>
              <a:rect r="r" b="b" t="t" l="l"/>
              <a:pathLst>
                <a:path h="2509870" w="2228107">
                  <a:moveTo>
                    <a:pt x="46329" y="0"/>
                  </a:moveTo>
                  <a:lnTo>
                    <a:pt x="2181778" y="0"/>
                  </a:lnTo>
                  <a:cubicBezTo>
                    <a:pt x="2194065" y="0"/>
                    <a:pt x="2205849" y="4881"/>
                    <a:pt x="2214537" y="13569"/>
                  </a:cubicBezTo>
                  <a:cubicBezTo>
                    <a:pt x="2223226" y="22258"/>
                    <a:pt x="2228107" y="34042"/>
                    <a:pt x="2228107" y="46329"/>
                  </a:cubicBezTo>
                  <a:lnTo>
                    <a:pt x="2228107" y="2463542"/>
                  </a:lnTo>
                  <a:cubicBezTo>
                    <a:pt x="2228107" y="2475829"/>
                    <a:pt x="2223226" y="2487613"/>
                    <a:pt x="2214537" y="2496301"/>
                  </a:cubicBezTo>
                  <a:cubicBezTo>
                    <a:pt x="2205849" y="2504989"/>
                    <a:pt x="2194065" y="2509870"/>
                    <a:pt x="2181778" y="2509870"/>
                  </a:cubicBezTo>
                  <a:lnTo>
                    <a:pt x="46329" y="2509870"/>
                  </a:lnTo>
                  <a:cubicBezTo>
                    <a:pt x="34042" y="2509870"/>
                    <a:pt x="22258" y="2504989"/>
                    <a:pt x="13569" y="2496301"/>
                  </a:cubicBezTo>
                  <a:cubicBezTo>
                    <a:pt x="4881" y="2487613"/>
                    <a:pt x="0" y="2475829"/>
                    <a:pt x="0" y="2463542"/>
                  </a:cubicBezTo>
                  <a:lnTo>
                    <a:pt x="0" y="46329"/>
                  </a:lnTo>
                  <a:cubicBezTo>
                    <a:pt x="0" y="34042"/>
                    <a:pt x="4881" y="22258"/>
                    <a:pt x="13569" y="13569"/>
                  </a:cubicBezTo>
                  <a:cubicBezTo>
                    <a:pt x="22258" y="4881"/>
                    <a:pt x="34042" y="0"/>
                    <a:pt x="46329" y="0"/>
                  </a:cubicBezTo>
                  <a:close/>
                </a:path>
              </a:pathLst>
            </a:custGeom>
            <a:solidFill>
              <a:srgbClr val="FFFFFF"/>
            </a:solidFill>
            <a:ln w="95250" cap="rnd">
              <a:solidFill>
                <a:srgbClr val="000000"/>
              </a:solidFill>
              <a:prstDash val="lgDash"/>
              <a:round/>
            </a:ln>
          </p:spPr>
        </p:sp>
        <p:sp>
          <p:nvSpPr>
            <p:cNvPr name="TextBox 4" id="4"/>
            <p:cNvSpPr txBox="true"/>
            <p:nvPr/>
          </p:nvSpPr>
          <p:spPr>
            <a:xfrm>
              <a:off x="0" y="-38100"/>
              <a:ext cx="2228107" cy="2547970"/>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9420672" y="378668"/>
            <a:ext cx="8459842" cy="9529664"/>
            <a:chOff x="0" y="0"/>
            <a:chExt cx="2228107" cy="2509870"/>
          </a:xfrm>
        </p:grpSpPr>
        <p:sp>
          <p:nvSpPr>
            <p:cNvPr name="Freeform 6" id="6"/>
            <p:cNvSpPr/>
            <p:nvPr/>
          </p:nvSpPr>
          <p:spPr>
            <a:xfrm flipH="false" flipV="false" rot="0">
              <a:off x="0" y="0"/>
              <a:ext cx="2228107" cy="2509870"/>
            </a:xfrm>
            <a:custGeom>
              <a:avLst/>
              <a:gdLst/>
              <a:ahLst/>
              <a:cxnLst/>
              <a:rect r="r" b="b" t="t" l="l"/>
              <a:pathLst>
                <a:path h="2509870" w="2228107">
                  <a:moveTo>
                    <a:pt x="46329" y="0"/>
                  </a:moveTo>
                  <a:lnTo>
                    <a:pt x="2181778" y="0"/>
                  </a:lnTo>
                  <a:cubicBezTo>
                    <a:pt x="2194065" y="0"/>
                    <a:pt x="2205849" y="4881"/>
                    <a:pt x="2214537" y="13569"/>
                  </a:cubicBezTo>
                  <a:cubicBezTo>
                    <a:pt x="2223226" y="22258"/>
                    <a:pt x="2228107" y="34042"/>
                    <a:pt x="2228107" y="46329"/>
                  </a:cubicBezTo>
                  <a:lnTo>
                    <a:pt x="2228107" y="2463542"/>
                  </a:lnTo>
                  <a:cubicBezTo>
                    <a:pt x="2228107" y="2475829"/>
                    <a:pt x="2223226" y="2487613"/>
                    <a:pt x="2214537" y="2496301"/>
                  </a:cubicBezTo>
                  <a:cubicBezTo>
                    <a:pt x="2205849" y="2504989"/>
                    <a:pt x="2194065" y="2509870"/>
                    <a:pt x="2181778" y="2509870"/>
                  </a:cubicBezTo>
                  <a:lnTo>
                    <a:pt x="46329" y="2509870"/>
                  </a:lnTo>
                  <a:cubicBezTo>
                    <a:pt x="34042" y="2509870"/>
                    <a:pt x="22258" y="2504989"/>
                    <a:pt x="13569" y="2496301"/>
                  </a:cubicBezTo>
                  <a:cubicBezTo>
                    <a:pt x="4881" y="2487613"/>
                    <a:pt x="0" y="2475829"/>
                    <a:pt x="0" y="2463542"/>
                  </a:cubicBezTo>
                  <a:lnTo>
                    <a:pt x="0" y="46329"/>
                  </a:lnTo>
                  <a:cubicBezTo>
                    <a:pt x="0" y="34042"/>
                    <a:pt x="4881" y="22258"/>
                    <a:pt x="13569" y="13569"/>
                  </a:cubicBezTo>
                  <a:cubicBezTo>
                    <a:pt x="22258" y="4881"/>
                    <a:pt x="34042" y="0"/>
                    <a:pt x="46329" y="0"/>
                  </a:cubicBezTo>
                  <a:close/>
                </a:path>
              </a:pathLst>
            </a:custGeom>
            <a:solidFill>
              <a:srgbClr val="FFFFFF"/>
            </a:solidFill>
            <a:ln w="95250" cap="rnd">
              <a:solidFill>
                <a:srgbClr val="000000"/>
              </a:solidFill>
              <a:prstDash val="lgDash"/>
              <a:round/>
            </a:ln>
          </p:spPr>
        </p:sp>
        <p:sp>
          <p:nvSpPr>
            <p:cNvPr name="TextBox 7" id="7"/>
            <p:cNvSpPr txBox="true"/>
            <p:nvPr/>
          </p:nvSpPr>
          <p:spPr>
            <a:xfrm>
              <a:off x="0" y="-38100"/>
              <a:ext cx="2228107" cy="2547970"/>
            </a:xfrm>
            <a:prstGeom prst="rect">
              <a:avLst/>
            </a:prstGeom>
          </p:spPr>
          <p:txBody>
            <a:bodyPr anchor="ctr" rtlCol="false" tIns="50800" lIns="50800" bIns="50800" rIns="50800"/>
            <a:lstStyle/>
            <a:p>
              <a:pPr algn="ctr">
                <a:lnSpc>
                  <a:spcPts val="2659"/>
                </a:lnSpc>
                <a:spcBef>
                  <a:spcPct val="0"/>
                </a:spcBef>
              </a:pPr>
            </a:p>
          </p:txBody>
        </p:sp>
      </p:grpSp>
      <p:sp>
        <p:nvSpPr>
          <p:cNvPr name="TextBox 8" id="8"/>
          <p:cNvSpPr txBox="true"/>
          <p:nvPr/>
        </p:nvSpPr>
        <p:spPr>
          <a:xfrm rot="0">
            <a:off x="2926780" y="914400"/>
            <a:ext cx="3521862" cy="974869"/>
          </a:xfrm>
          <a:prstGeom prst="rect">
            <a:avLst/>
          </a:prstGeom>
        </p:spPr>
        <p:txBody>
          <a:bodyPr anchor="t" rtlCol="false" tIns="0" lIns="0" bIns="0" rIns="0">
            <a:spAutoFit/>
          </a:bodyPr>
          <a:lstStyle/>
          <a:p>
            <a:pPr algn="ctr">
              <a:lnSpc>
                <a:spcPts val="7984"/>
              </a:lnSpc>
              <a:spcBef>
                <a:spcPct val="0"/>
              </a:spcBef>
            </a:pPr>
            <a:r>
              <a:rPr lang="en-US" b="true" sz="5703">
                <a:solidFill>
                  <a:srgbClr val="00BF63"/>
                </a:solidFill>
                <a:latin typeface="Open Sans Bold"/>
                <a:ea typeface="Open Sans Bold"/>
                <a:cs typeface="Open Sans Bold"/>
                <a:sym typeface="Open Sans Bold"/>
              </a:rPr>
              <a:t>VENTAJAS</a:t>
            </a:r>
          </a:p>
        </p:txBody>
      </p:sp>
      <p:sp>
        <p:nvSpPr>
          <p:cNvPr name="TextBox 9" id="9"/>
          <p:cNvSpPr txBox="true"/>
          <p:nvPr/>
        </p:nvSpPr>
        <p:spPr>
          <a:xfrm rot="0">
            <a:off x="11220111" y="910099"/>
            <a:ext cx="4860965" cy="979170"/>
          </a:xfrm>
          <a:prstGeom prst="rect">
            <a:avLst/>
          </a:prstGeom>
        </p:spPr>
        <p:txBody>
          <a:bodyPr anchor="t" rtlCol="false" tIns="0" lIns="0" bIns="0" rIns="0">
            <a:spAutoFit/>
          </a:bodyPr>
          <a:lstStyle/>
          <a:p>
            <a:pPr algn="ctr">
              <a:lnSpc>
                <a:spcPts val="7980"/>
              </a:lnSpc>
              <a:spcBef>
                <a:spcPct val="0"/>
              </a:spcBef>
            </a:pPr>
            <a:r>
              <a:rPr lang="en-US" b="true" sz="5700">
                <a:solidFill>
                  <a:srgbClr val="FF3131"/>
                </a:solidFill>
                <a:latin typeface="Open Sans Bold"/>
                <a:ea typeface="Open Sans Bold"/>
                <a:cs typeface="Open Sans Bold"/>
                <a:sym typeface="Open Sans Bold"/>
              </a:rPr>
              <a:t>DESVENTAJAS</a:t>
            </a:r>
          </a:p>
        </p:txBody>
      </p:sp>
      <p:sp>
        <p:nvSpPr>
          <p:cNvPr name="TextBox 10" id="10"/>
          <p:cNvSpPr txBox="true"/>
          <p:nvPr/>
        </p:nvSpPr>
        <p:spPr>
          <a:xfrm rot="0">
            <a:off x="1278481" y="2933005"/>
            <a:ext cx="6818460" cy="1482396"/>
          </a:xfrm>
          <a:prstGeom prst="rect">
            <a:avLst/>
          </a:prstGeom>
        </p:spPr>
        <p:txBody>
          <a:bodyPr anchor="t" rtlCol="false" tIns="0" lIns="0" bIns="0" rIns="0">
            <a:spAutoFit/>
          </a:bodyPr>
          <a:lstStyle/>
          <a:p>
            <a:pPr algn="l" marL="615266" indent="-307633" lvl="1">
              <a:lnSpc>
                <a:spcPts val="3989"/>
              </a:lnSpc>
              <a:spcBef>
                <a:spcPct val="0"/>
              </a:spcBef>
              <a:buFont typeface="Arial"/>
              <a:buChar char="•"/>
            </a:pPr>
            <a:r>
              <a:rPr lang="en-US" b="true" sz="2849">
                <a:solidFill>
                  <a:srgbClr val="000000"/>
                </a:solidFill>
                <a:latin typeface="Open Sans Bold"/>
                <a:ea typeface="Open Sans Bold"/>
                <a:cs typeface="Open Sans Bold"/>
                <a:sym typeface="Open Sans Bold"/>
              </a:rPr>
              <a:t>Imperativa: es más claro y directo. Facilita un procedimiento para poder llegar al resultado.</a:t>
            </a:r>
          </a:p>
        </p:txBody>
      </p:sp>
      <p:sp>
        <p:nvSpPr>
          <p:cNvPr name="TextBox 11" id="11"/>
          <p:cNvSpPr txBox="true"/>
          <p:nvPr/>
        </p:nvSpPr>
        <p:spPr>
          <a:xfrm rot="0">
            <a:off x="1278481" y="5463151"/>
            <a:ext cx="6818460" cy="2487167"/>
          </a:xfrm>
          <a:prstGeom prst="rect">
            <a:avLst/>
          </a:prstGeom>
        </p:spPr>
        <p:txBody>
          <a:bodyPr anchor="t" rtlCol="false" tIns="0" lIns="0" bIns="0" rIns="0">
            <a:spAutoFit/>
          </a:bodyPr>
          <a:lstStyle/>
          <a:p>
            <a:pPr algn="l" marL="615266" indent="-307633" lvl="1">
              <a:lnSpc>
                <a:spcPts val="3989"/>
              </a:lnSpc>
              <a:spcBef>
                <a:spcPct val="0"/>
              </a:spcBef>
              <a:buFont typeface="Arial"/>
              <a:buChar char="•"/>
            </a:pPr>
            <a:r>
              <a:rPr lang="en-US" b="true" sz="2849">
                <a:solidFill>
                  <a:srgbClr val="000000"/>
                </a:solidFill>
                <a:latin typeface="Open Sans Bold"/>
                <a:ea typeface="Open Sans Bold"/>
                <a:cs typeface="Open Sans Bold"/>
                <a:sym typeface="Open Sans Bold"/>
              </a:rPr>
              <a:t>Declarativa: es más sencillo y conciso, ya que solo indica el estado inicial y final. Permite centrarse en el objetivo, sin detallar las acciones intermedias.</a:t>
            </a:r>
          </a:p>
        </p:txBody>
      </p:sp>
      <p:sp>
        <p:nvSpPr>
          <p:cNvPr name="TextBox 12" id="12"/>
          <p:cNvSpPr txBox="true"/>
          <p:nvPr/>
        </p:nvSpPr>
        <p:spPr>
          <a:xfrm rot="0">
            <a:off x="10241363" y="2933005"/>
            <a:ext cx="6818460" cy="2487167"/>
          </a:xfrm>
          <a:prstGeom prst="rect">
            <a:avLst/>
          </a:prstGeom>
        </p:spPr>
        <p:txBody>
          <a:bodyPr anchor="t" rtlCol="false" tIns="0" lIns="0" bIns="0" rIns="0">
            <a:spAutoFit/>
          </a:bodyPr>
          <a:lstStyle/>
          <a:p>
            <a:pPr algn="l" marL="615266" indent="-307633" lvl="1">
              <a:lnSpc>
                <a:spcPts val="3989"/>
              </a:lnSpc>
              <a:spcBef>
                <a:spcPct val="0"/>
              </a:spcBef>
              <a:buFont typeface="Arial"/>
              <a:buChar char="•"/>
            </a:pPr>
            <a:r>
              <a:rPr lang="en-US" b="true" sz="2849">
                <a:solidFill>
                  <a:srgbClr val="000000"/>
                </a:solidFill>
                <a:latin typeface="Open Sans Bold"/>
                <a:ea typeface="Open Sans Bold"/>
                <a:cs typeface="Open Sans Bold"/>
                <a:sym typeface="Open Sans Bold"/>
              </a:rPr>
              <a:t>Imperativa: te hace seguir un procedimiento sin explicar el motivo del porqué, y puede resultar largo y repetitivo a la larga.</a:t>
            </a:r>
          </a:p>
        </p:txBody>
      </p:sp>
      <p:sp>
        <p:nvSpPr>
          <p:cNvPr name="TextBox 13" id="13"/>
          <p:cNvSpPr txBox="true"/>
          <p:nvPr/>
        </p:nvSpPr>
        <p:spPr>
          <a:xfrm rot="0">
            <a:off x="10241363" y="6467922"/>
            <a:ext cx="6818460" cy="1482396"/>
          </a:xfrm>
          <a:prstGeom prst="rect">
            <a:avLst/>
          </a:prstGeom>
        </p:spPr>
        <p:txBody>
          <a:bodyPr anchor="t" rtlCol="false" tIns="0" lIns="0" bIns="0" rIns="0">
            <a:spAutoFit/>
          </a:bodyPr>
          <a:lstStyle/>
          <a:p>
            <a:pPr algn="l" marL="615266" indent="-307633" lvl="1">
              <a:lnSpc>
                <a:spcPts val="3989"/>
              </a:lnSpc>
              <a:spcBef>
                <a:spcPct val="0"/>
              </a:spcBef>
              <a:buFont typeface="Arial"/>
              <a:buChar char="•"/>
            </a:pPr>
            <a:r>
              <a:rPr lang="en-US" b="true" sz="2849">
                <a:solidFill>
                  <a:srgbClr val="000000"/>
                </a:solidFill>
                <a:latin typeface="Open Sans Bold"/>
                <a:ea typeface="Open Sans Bold"/>
                <a:cs typeface="Open Sans Bold"/>
                <a:sym typeface="Open Sans Bold"/>
              </a:rPr>
              <a:t>Declarativa: no explica cómo llegar al resultado, y proporciona menos información práctica.</a:t>
            </a:r>
          </a:p>
        </p:txBody>
      </p:sp>
    </p:spTree>
  </p:cSld>
  <p:clrMapOvr>
    <a:masterClrMapping/>
  </p:clrMapOvr>
</p:sld>
</file>

<file path=ppt/slides/slide10.xml><?xml version="1.0" encoding="utf-8"?>
<p:sld xmlns:p="http://schemas.openxmlformats.org/presentationml/2006/main" xmlns:a="http://schemas.openxmlformats.org/drawingml/2006/main">
  <p:cSld>
    <p:bg>
      <p:bgPr>
        <a:solidFill>
          <a:srgbClr val="12229D"/>
        </a:solidFill>
      </p:bgPr>
    </p:bg>
    <p:spTree>
      <p:nvGrpSpPr>
        <p:cNvPr id="1" name=""/>
        <p:cNvGrpSpPr/>
        <p:nvPr/>
      </p:nvGrpSpPr>
      <p:grpSpPr>
        <a:xfrm>
          <a:off x="0" y="0"/>
          <a:ext cx="0" cy="0"/>
          <a:chOff x="0" y="0"/>
          <a:chExt cx="0" cy="0"/>
        </a:xfrm>
      </p:grpSpPr>
      <p:grpSp>
        <p:nvGrpSpPr>
          <p:cNvPr name="Group 2" id="2"/>
          <p:cNvGrpSpPr/>
          <p:nvPr/>
        </p:nvGrpSpPr>
        <p:grpSpPr>
          <a:xfrm rot="2621080">
            <a:off x="-6101145" y="8321020"/>
            <a:ext cx="19663705" cy="5667343"/>
            <a:chOff x="0" y="0"/>
            <a:chExt cx="5178918" cy="1492634"/>
          </a:xfrm>
        </p:grpSpPr>
        <p:sp>
          <p:nvSpPr>
            <p:cNvPr name="Freeform 3" id="3"/>
            <p:cNvSpPr/>
            <p:nvPr/>
          </p:nvSpPr>
          <p:spPr>
            <a:xfrm flipH="false" flipV="false" rot="0">
              <a:off x="0" y="0"/>
              <a:ext cx="5178918" cy="1492634"/>
            </a:xfrm>
            <a:custGeom>
              <a:avLst/>
              <a:gdLst/>
              <a:ahLst/>
              <a:cxnLst/>
              <a:rect r="r" b="b" t="t" l="l"/>
              <a:pathLst>
                <a:path h="1492634" w="5178918">
                  <a:moveTo>
                    <a:pt x="0" y="0"/>
                  </a:moveTo>
                  <a:lnTo>
                    <a:pt x="5178918" y="0"/>
                  </a:lnTo>
                  <a:lnTo>
                    <a:pt x="5178918" y="1492634"/>
                  </a:lnTo>
                  <a:lnTo>
                    <a:pt x="0" y="1492634"/>
                  </a:lnTo>
                  <a:close/>
                </a:path>
              </a:pathLst>
            </a:custGeom>
            <a:solidFill>
              <a:srgbClr val="CAE8FF"/>
            </a:solidFill>
          </p:spPr>
        </p:sp>
        <p:sp>
          <p:nvSpPr>
            <p:cNvPr name="TextBox 4" id="4"/>
            <p:cNvSpPr txBox="true"/>
            <p:nvPr/>
          </p:nvSpPr>
          <p:spPr>
            <a:xfrm>
              <a:off x="0" y="-38100"/>
              <a:ext cx="5178918" cy="1530734"/>
            </a:xfrm>
            <a:prstGeom prst="rect">
              <a:avLst/>
            </a:prstGeom>
          </p:spPr>
          <p:txBody>
            <a:bodyPr anchor="ctr" rtlCol="false" tIns="50800" lIns="50800" bIns="50800" rIns="50800"/>
            <a:lstStyle/>
            <a:p>
              <a:pPr algn="ctr">
                <a:lnSpc>
                  <a:spcPts val="2659"/>
                </a:lnSpc>
              </a:pPr>
            </a:p>
          </p:txBody>
        </p:sp>
      </p:grpSp>
      <p:grpSp>
        <p:nvGrpSpPr>
          <p:cNvPr name="Group 5" id="5"/>
          <p:cNvGrpSpPr/>
          <p:nvPr/>
        </p:nvGrpSpPr>
        <p:grpSpPr>
          <a:xfrm rot="-2700000">
            <a:off x="1747758" y="2309829"/>
            <a:ext cx="19663705" cy="5667343"/>
            <a:chOff x="0" y="0"/>
            <a:chExt cx="5178918" cy="1492634"/>
          </a:xfrm>
        </p:grpSpPr>
        <p:sp>
          <p:nvSpPr>
            <p:cNvPr name="Freeform 6" id="6"/>
            <p:cNvSpPr/>
            <p:nvPr/>
          </p:nvSpPr>
          <p:spPr>
            <a:xfrm flipH="false" flipV="false" rot="0">
              <a:off x="0" y="0"/>
              <a:ext cx="5178918" cy="1492634"/>
            </a:xfrm>
            <a:custGeom>
              <a:avLst/>
              <a:gdLst/>
              <a:ahLst/>
              <a:cxnLst/>
              <a:rect r="r" b="b" t="t" l="l"/>
              <a:pathLst>
                <a:path h="1492634" w="5178918">
                  <a:moveTo>
                    <a:pt x="0" y="0"/>
                  </a:moveTo>
                  <a:lnTo>
                    <a:pt x="5178918" y="0"/>
                  </a:lnTo>
                  <a:lnTo>
                    <a:pt x="5178918" y="1492634"/>
                  </a:lnTo>
                  <a:lnTo>
                    <a:pt x="0" y="1492634"/>
                  </a:lnTo>
                  <a:close/>
                </a:path>
              </a:pathLst>
            </a:custGeom>
            <a:solidFill>
              <a:srgbClr val="CAE8FF"/>
            </a:solidFill>
          </p:spPr>
        </p:sp>
        <p:sp>
          <p:nvSpPr>
            <p:cNvPr name="TextBox 7" id="7"/>
            <p:cNvSpPr txBox="true"/>
            <p:nvPr/>
          </p:nvSpPr>
          <p:spPr>
            <a:xfrm>
              <a:off x="0" y="-38100"/>
              <a:ext cx="5178918" cy="1530734"/>
            </a:xfrm>
            <a:prstGeom prst="rect">
              <a:avLst/>
            </a:prstGeom>
          </p:spPr>
          <p:txBody>
            <a:bodyPr anchor="ctr" rtlCol="false" tIns="50800" lIns="50800" bIns="50800" rIns="50800"/>
            <a:lstStyle/>
            <a:p>
              <a:pPr algn="ctr">
                <a:lnSpc>
                  <a:spcPts val="2659"/>
                </a:lnSpc>
              </a:pPr>
            </a:p>
          </p:txBody>
        </p:sp>
      </p:grpSp>
      <p:sp>
        <p:nvSpPr>
          <p:cNvPr name="TextBox 8" id="8"/>
          <p:cNvSpPr txBox="true"/>
          <p:nvPr/>
        </p:nvSpPr>
        <p:spPr>
          <a:xfrm rot="-2700000">
            <a:off x="5590586" y="4761433"/>
            <a:ext cx="10616660" cy="1073655"/>
          </a:xfrm>
          <a:prstGeom prst="rect">
            <a:avLst/>
          </a:prstGeom>
        </p:spPr>
        <p:txBody>
          <a:bodyPr anchor="t" rtlCol="false" tIns="0" lIns="0" bIns="0" rIns="0">
            <a:spAutoFit/>
          </a:bodyPr>
          <a:lstStyle/>
          <a:p>
            <a:pPr algn="ctr">
              <a:lnSpc>
                <a:spcPts val="8763"/>
              </a:lnSpc>
              <a:spcBef>
                <a:spcPct val="0"/>
              </a:spcBef>
            </a:pPr>
            <a:r>
              <a:rPr lang="en-US" b="true" sz="6259">
                <a:solidFill>
                  <a:srgbClr val="12229D"/>
                </a:solidFill>
                <a:latin typeface="Open Sans Bold"/>
                <a:ea typeface="Open Sans Bold"/>
                <a:cs typeface="Open Sans Bold"/>
                <a:sym typeface="Open Sans Bold"/>
              </a:rPr>
              <a:t>MUCHAS GRACIAS POR VER</a:t>
            </a:r>
          </a:p>
        </p:txBody>
      </p:sp>
      <p:grpSp>
        <p:nvGrpSpPr>
          <p:cNvPr name="Group 9" id="9"/>
          <p:cNvGrpSpPr/>
          <p:nvPr/>
        </p:nvGrpSpPr>
        <p:grpSpPr>
          <a:xfrm rot="2700000">
            <a:off x="354854" y="-4726588"/>
            <a:ext cx="8884052" cy="9453177"/>
            <a:chOff x="0" y="0"/>
            <a:chExt cx="2339833" cy="2489726"/>
          </a:xfrm>
        </p:grpSpPr>
        <p:sp>
          <p:nvSpPr>
            <p:cNvPr name="Freeform 10" id="10"/>
            <p:cNvSpPr/>
            <p:nvPr/>
          </p:nvSpPr>
          <p:spPr>
            <a:xfrm flipH="false" flipV="false" rot="0">
              <a:off x="0" y="0"/>
              <a:ext cx="2339833" cy="2489726"/>
            </a:xfrm>
            <a:custGeom>
              <a:avLst/>
              <a:gdLst/>
              <a:ahLst/>
              <a:cxnLst/>
              <a:rect r="r" b="b" t="t" l="l"/>
              <a:pathLst>
                <a:path h="2489726" w="2339833">
                  <a:moveTo>
                    <a:pt x="0" y="0"/>
                  </a:moveTo>
                  <a:lnTo>
                    <a:pt x="2339833" y="0"/>
                  </a:lnTo>
                  <a:lnTo>
                    <a:pt x="2339833" y="2489726"/>
                  </a:lnTo>
                  <a:lnTo>
                    <a:pt x="0" y="2489726"/>
                  </a:lnTo>
                  <a:close/>
                </a:path>
              </a:pathLst>
            </a:custGeom>
            <a:solidFill>
              <a:srgbClr val="FFFFFF"/>
            </a:solidFill>
          </p:spPr>
        </p:sp>
        <p:sp>
          <p:nvSpPr>
            <p:cNvPr name="TextBox 11" id="11"/>
            <p:cNvSpPr txBox="true"/>
            <p:nvPr/>
          </p:nvSpPr>
          <p:spPr>
            <a:xfrm>
              <a:off x="0" y="-38100"/>
              <a:ext cx="2339833" cy="2527826"/>
            </a:xfrm>
            <a:prstGeom prst="rect">
              <a:avLst/>
            </a:prstGeom>
          </p:spPr>
          <p:txBody>
            <a:bodyPr anchor="ctr" rtlCol="false" tIns="50800" lIns="50800" bIns="50800" rIns="50800"/>
            <a:lstStyle/>
            <a:p>
              <a:pPr algn="ctr">
                <a:lnSpc>
                  <a:spcPts val="2659"/>
                </a:lnSpc>
              </a:pPr>
            </a:p>
          </p:txBody>
        </p:sp>
      </p:grpSp>
      <p:sp>
        <p:nvSpPr>
          <p:cNvPr name="TextBox 12" id="12"/>
          <p:cNvSpPr txBox="true"/>
          <p:nvPr/>
        </p:nvSpPr>
        <p:spPr>
          <a:xfrm rot="0">
            <a:off x="711138" y="1185992"/>
            <a:ext cx="8171485" cy="649741"/>
          </a:xfrm>
          <a:prstGeom prst="rect">
            <a:avLst/>
          </a:prstGeom>
        </p:spPr>
        <p:txBody>
          <a:bodyPr anchor="t" rtlCol="false" tIns="0" lIns="0" bIns="0" rIns="0">
            <a:spAutoFit/>
          </a:bodyPr>
          <a:lstStyle/>
          <a:p>
            <a:pPr algn="ctr">
              <a:lnSpc>
                <a:spcPts val="5379"/>
              </a:lnSpc>
              <a:spcBef>
                <a:spcPct val="0"/>
              </a:spcBef>
            </a:pPr>
            <a:r>
              <a:rPr lang="en-US" b="true" sz="3842">
                <a:solidFill>
                  <a:srgbClr val="12229D"/>
                </a:solidFill>
                <a:latin typeface="Open Sans Bold"/>
                <a:ea typeface="Open Sans Bold"/>
                <a:cs typeface="Open Sans Bold"/>
                <a:sym typeface="Open Sans Bold"/>
              </a:rPr>
              <a:t>Hecho por: Alberto Florido Ramos</a:t>
            </a:r>
          </a:p>
        </p:txBody>
      </p:sp>
      <p:sp>
        <p:nvSpPr>
          <p:cNvPr name="TextBox 13" id="13"/>
          <p:cNvSpPr txBox="true"/>
          <p:nvPr/>
        </p:nvSpPr>
        <p:spPr>
          <a:xfrm rot="0">
            <a:off x="3453628" y="3628432"/>
            <a:ext cx="2143991" cy="665406"/>
          </a:xfrm>
          <a:prstGeom prst="rect">
            <a:avLst/>
          </a:prstGeom>
        </p:spPr>
        <p:txBody>
          <a:bodyPr anchor="t" rtlCol="false" tIns="0" lIns="0" bIns="0" rIns="0">
            <a:spAutoFit/>
          </a:bodyPr>
          <a:lstStyle/>
          <a:p>
            <a:pPr algn="ctr" marL="0" indent="0" lvl="0">
              <a:lnSpc>
                <a:spcPts val="5519"/>
              </a:lnSpc>
              <a:spcBef>
                <a:spcPct val="0"/>
              </a:spcBef>
            </a:pPr>
            <a:r>
              <a:rPr lang="en-US" b="true" sz="3942" strike="noStrike" u="none">
                <a:solidFill>
                  <a:srgbClr val="12229D"/>
                </a:solidFill>
                <a:latin typeface="Open Sans Bold"/>
                <a:ea typeface="Open Sans Bold"/>
                <a:cs typeface="Open Sans Bold"/>
                <a:sym typeface="Open Sans Bold"/>
              </a:rPr>
              <a:t>1ºA DAM</a:t>
            </a:r>
          </a:p>
        </p:txBody>
      </p:sp>
      <p:sp>
        <p:nvSpPr>
          <p:cNvPr name="TextBox 14" id="14"/>
          <p:cNvSpPr txBox="true"/>
          <p:nvPr/>
        </p:nvSpPr>
        <p:spPr>
          <a:xfrm rot="0">
            <a:off x="1220517" y="2476603"/>
            <a:ext cx="6610213" cy="489996"/>
          </a:xfrm>
          <a:prstGeom prst="rect">
            <a:avLst/>
          </a:prstGeom>
        </p:spPr>
        <p:txBody>
          <a:bodyPr anchor="t" rtlCol="false" tIns="0" lIns="0" bIns="0" rIns="0">
            <a:spAutoFit/>
          </a:bodyPr>
          <a:lstStyle/>
          <a:p>
            <a:pPr algn="ctr" marL="0" indent="0" lvl="0">
              <a:lnSpc>
                <a:spcPts val="4023"/>
              </a:lnSpc>
              <a:spcBef>
                <a:spcPct val="0"/>
              </a:spcBef>
            </a:pPr>
            <a:r>
              <a:rPr lang="en-US" b="true" sz="2874" strike="noStrike" u="none">
                <a:solidFill>
                  <a:srgbClr val="12229D"/>
                </a:solidFill>
                <a:latin typeface="Open Sans Bold"/>
                <a:ea typeface="Open Sans Bold"/>
                <a:cs typeface="Open Sans Bold"/>
                <a:sym typeface="Open Sans Bold"/>
              </a:rPr>
              <a:t>Correo: albertofloram05@gmail.com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DAHV8S3NbDc</dc:identifier>
  <dcterms:modified xsi:type="dcterms:W3CDTF">2011-08-01T06:04:30Z</dcterms:modified>
  <cp:revision>1</cp:revision>
  <dc:title>Reconocimiento de Elementos en el Desarrollo de un Programa Informático</dc:title>
</cp:coreProperties>
</file>